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059FE-94B0-45DA-8531-BB532BC5C23E}" v="1" dt="2026-09-10T17:35:44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DUPUDI RUDHEER-[CH.SC.U4AIE25074]" userId="560eb7fe-7e89-4e35-b57b-8633bc05cfda" providerId="ADAL" clId="{790A2CF0-CC9C-45AB-9325-C58A51048A54}"/>
    <pc:docChg chg="undo custSel modSld">
      <pc:chgData name="KUDUPUDI RUDHEER-[CH.SC.U4AIE25074]" userId="560eb7fe-7e89-4e35-b57b-8633bc05cfda" providerId="ADAL" clId="{790A2CF0-CC9C-45AB-9325-C58A51048A54}" dt="2026-09-10T17:41:28.220" v="167" actId="120"/>
      <pc:docMkLst>
        <pc:docMk/>
      </pc:docMkLst>
      <pc:sldChg chg="modSp mod">
        <pc:chgData name="KUDUPUDI RUDHEER-[CH.SC.U4AIE25074]" userId="560eb7fe-7e89-4e35-b57b-8633bc05cfda" providerId="ADAL" clId="{790A2CF0-CC9C-45AB-9325-C58A51048A54}" dt="2026-09-10T17:41:28.220" v="167" actId="120"/>
        <pc:sldMkLst>
          <pc:docMk/>
          <pc:sldMk cId="0" sldId="256"/>
        </pc:sldMkLst>
        <pc:spChg chg="mod">
          <ac:chgData name="KUDUPUDI RUDHEER-[CH.SC.U4AIE25074]" userId="560eb7fe-7e89-4e35-b57b-8633bc05cfda" providerId="ADAL" clId="{790A2CF0-CC9C-45AB-9325-C58A51048A54}" dt="2026-09-10T17:41:28.220" v="167" actId="12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KUDUPUDI RUDHEER-[CH.SC.U4AIE25074]" userId="560eb7fe-7e89-4e35-b57b-8633bc05cfda" providerId="ADAL" clId="{790A2CF0-CC9C-45AB-9325-C58A51048A54}" dt="2026-09-10T17:41:10.334" v="150" actId="20577"/>
          <ac:spMkLst>
            <pc:docMk/>
            <pc:sldMk cId="0" sldId="256"/>
            <ac:spMk id="18" creationId="{00000000-0000-0000-0000-000000000000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0:10.046" v="15"/>
        <pc:sldMkLst>
          <pc:docMk/>
          <pc:sldMk cId="0" sldId="257"/>
        </pc:sldMkLst>
        <pc:spChg chg="mod">
          <ac:chgData name="KUDUPUDI RUDHEER-[CH.SC.U4AIE25074]" userId="560eb7fe-7e89-4e35-b57b-8633bc05cfda" providerId="ADAL" clId="{790A2CF0-CC9C-45AB-9325-C58A51048A54}" dt="2026-09-10T16:50:45.527" v="1" actId="1076"/>
          <ac:spMkLst>
            <pc:docMk/>
            <pc:sldMk cId="0" sldId="257"/>
            <ac:spMk id="51" creationId="{6022ED3B-2BF3-2344-5CC1-25F06F720F45}"/>
          </ac:spMkLst>
        </pc:spChg>
        <pc:spChg chg="del mod">
          <ac:chgData name="KUDUPUDI RUDHEER-[CH.SC.U4AIE25074]" userId="560eb7fe-7e89-4e35-b57b-8633bc05cfda" providerId="ADAL" clId="{790A2CF0-CC9C-45AB-9325-C58A51048A54}" dt="2026-09-10T16:50:51.223" v="4"/>
          <ac:spMkLst>
            <pc:docMk/>
            <pc:sldMk cId="0" sldId="257"/>
            <ac:spMk id="81" creationId="{E74EA025-5ACF-1726-9E7A-18B4FAF1C801}"/>
          </ac:spMkLst>
        </pc:spChg>
        <pc:spChg chg="del mod">
          <ac:chgData name="KUDUPUDI RUDHEER-[CH.SC.U4AIE25074]" userId="560eb7fe-7e89-4e35-b57b-8633bc05cfda" providerId="ADAL" clId="{790A2CF0-CC9C-45AB-9325-C58A51048A54}" dt="2026-09-10T17:30:10.046" v="15"/>
          <ac:spMkLst>
            <pc:docMk/>
            <pc:sldMk cId="0" sldId="257"/>
            <ac:spMk id="83" creationId="{9007EB58-363A-1DE8-8BA8-1F39E6C24E22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2:07.418" v="69" actId="403"/>
        <pc:sldMkLst>
          <pc:docMk/>
          <pc:sldMk cId="0" sldId="258"/>
        </pc:sldMkLst>
        <pc:spChg chg="mod">
          <ac:chgData name="KUDUPUDI RUDHEER-[CH.SC.U4AIE25074]" userId="560eb7fe-7e89-4e35-b57b-8633bc05cfda" providerId="ADAL" clId="{790A2CF0-CC9C-45AB-9325-C58A51048A54}" dt="2026-09-10T17:31:02.368" v="25" actId="255"/>
          <ac:spMkLst>
            <pc:docMk/>
            <pc:sldMk cId="0" sldId="258"/>
            <ac:spMk id="168" creationId="{72BD18DC-2947-D56E-2377-84B62C2B3B0E}"/>
          </ac:spMkLst>
        </pc:spChg>
        <pc:spChg chg="mod">
          <ac:chgData name="KUDUPUDI RUDHEER-[CH.SC.U4AIE25074]" userId="560eb7fe-7e89-4e35-b57b-8633bc05cfda" providerId="ADAL" clId="{790A2CF0-CC9C-45AB-9325-C58A51048A54}" dt="2026-09-10T17:31:10.168" v="26" actId="255"/>
          <ac:spMkLst>
            <pc:docMk/>
            <pc:sldMk cId="0" sldId="258"/>
            <ac:spMk id="178" creationId="{D6C2342A-F7A1-6076-CD01-5E6A7AB8FADB}"/>
          </ac:spMkLst>
        </pc:spChg>
        <pc:spChg chg="mod">
          <ac:chgData name="KUDUPUDI RUDHEER-[CH.SC.U4AIE25074]" userId="560eb7fe-7e89-4e35-b57b-8633bc05cfda" providerId="ADAL" clId="{790A2CF0-CC9C-45AB-9325-C58A51048A54}" dt="2026-09-10T17:30:18.800" v="16" actId="1076"/>
          <ac:spMkLst>
            <pc:docMk/>
            <pc:sldMk cId="0" sldId="258"/>
            <ac:spMk id="196" creationId="{506F865A-938B-98DC-9649-1D5B715073F1}"/>
          </ac:spMkLst>
        </pc:spChg>
        <pc:spChg chg="mod">
          <ac:chgData name="KUDUPUDI RUDHEER-[CH.SC.U4AIE25074]" userId="560eb7fe-7e89-4e35-b57b-8633bc05cfda" providerId="ADAL" clId="{790A2CF0-CC9C-45AB-9325-C58A51048A54}" dt="2026-09-10T17:31:49.255" v="44" actId="404"/>
          <ac:spMkLst>
            <pc:docMk/>
            <pc:sldMk cId="0" sldId="258"/>
            <ac:spMk id="198" creationId="{A13DE5D0-A40E-20C8-DE4C-1DF26D03C7B2}"/>
          </ac:spMkLst>
        </pc:spChg>
        <pc:spChg chg="mod">
          <ac:chgData name="KUDUPUDI RUDHEER-[CH.SC.U4AIE25074]" userId="560eb7fe-7e89-4e35-b57b-8633bc05cfda" providerId="ADAL" clId="{790A2CF0-CC9C-45AB-9325-C58A51048A54}" dt="2026-09-10T17:30:22.426" v="17" actId="1076"/>
          <ac:spMkLst>
            <pc:docMk/>
            <pc:sldMk cId="0" sldId="258"/>
            <ac:spMk id="200" creationId="{6F6DCA96-649A-B8C7-C25F-CB2B00CF98A2}"/>
          </ac:spMkLst>
        </pc:spChg>
        <pc:spChg chg="mod">
          <ac:chgData name="KUDUPUDI RUDHEER-[CH.SC.U4AIE25074]" userId="560eb7fe-7e89-4e35-b57b-8633bc05cfda" providerId="ADAL" clId="{790A2CF0-CC9C-45AB-9325-C58A51048A54}" dt="2026-09-10T17:30:31.048" v="19" actId="1076"/>
          <ac:spMkLst>
            <pc:docMk/>
            <pc:sldMk cId="0" sldId="258"/>
            <ac:spMk id="204" creationId="{4641B72D-A17F-6AAC-BE59-6B0CF5E2CFD4}"/>
          </ac:spMkLst>
        </pc:spChg>
        <pc:spChg chg="mod">
          <ac:chgData name="KUDUPUDI RUDHEER-[CH.SC.U4AIE25074]" userId="560eb7fe-7e89-4e35-b57b-8633bc05cfda" providerId="ADAL" clId="{790A2CF0-CC9C-45AB-9325-C58A51048A54}" dt="2026-09-10T17:31:52.480" v="45" actId="403"/>
          <ac:spMkLst>
            <pc:docMk/>
            <pc:sldMk cId="0" sldId="258"/>
            <ac:spMk id="206" creationId="{2EB1A035-7AB8-AEAA-6419-8DC1BA4C6BE0}"/>
          </ac:spMkLst>
        </pc:spChg>
        <pc:spChg chg="mod">
          <ac:chgData name="KUDUPUDI RUDHEER-[CH.SC.U4AIE25074]" userId="560eb7fe-7e89-4e35-b57b-8633bc05cfda" providerId="ADAL" clId="{790A2CF0-CC9C-45AB-9325-C58A51048A54}" dt="2026-09-10T17:30:33.888" v="20" actId="1076"/>
          <ac:spMkLst>
            <pc:docMk/>
            <pc:sldMk cId="0" sldId="258"/>
            <ac:spMk id="212" creationId="{2610837B-F9B4-9FEE-675B-602D22421B87}"/>
          </ac:spMkLst>
        </pc:spChg>
        <pc:spChg chg="mod">
          <ac:chgData name="KUDUPUDI RUDHEER-[CH.SC.U4AIE25074]" userId="560eb7fe-7e89-4e35-b57b-8633bc05cfda" providerId="ADAL" clId="{790A2CF0-CC9C-45AB-9325-C58A51048A54}" dt="2026-09-10T17:31:58.636" v="54" actId="404"/>
          <ac:spMkLst>
            <pc:docMk/>
            <pc:sldMk cId="0" sldId="258"/>
            <ac:spMk id="214" creationId="{D6B45F97-EF0E-AD97-DA11-A79A1EB25C87}"/>
          </ac:spMkLst>
        </pc:spChg>
        <pc:spChg chg="mod">
          <ac:chgData name="KUDUPUDI RUDHEER-[CH.SC.U4AIE25074]" userId="560eb7fe-7e89-4e35-b57b-8633bc05cfda" providerId="ADAL" clId="{790A2CF0-CC9C-45AB-9325-C58A51048A54}" dt="2026-09-10T17:30:43.145" v="23" actId="1076"/>
          <ac:spMkLst>
            <pc:docMk/>
            <pc:sldMk cId="0" sldId="258"/>
            <ac:spMk id="220" creationId="{54289400-4548-6654-E24C-A2338AA69DBC}"/>
          </ac:spMkLst>
        </pc:spChg>
        <pc:spChg chg="mod">
          <ac:chgData name="KUDUPUDI RUDHEER-[CH.SC.U4AIE25074]" userId="560eb7fe-7e89-4e35-b57b-8633bc05cfda" providerId="ADAL" clId="{790A2CF0-CC9C-45AB-9325-C58A51048A54}" dt="2026-09-10T17:32:02.586" v="61" actId="403"/>
          <ac:spMkLst>
            <pc:docMk/>
            <pc:sldMk cId="0" sldId="258"/>
            <ac:spMk id="222" creationId="{5469531D-9125-836F-4079-D7326A0B62DA}"/>
          </ac:spMkLst>
        </pc:spChg>
        <pc:spChg chg="mod">
          <ac:chgData name="KUDUPUDI RUDHEER-[CH.SC.U4AIE25074]" userId="560eb7fe-7e89-4e35-b57b-8633bc05cfda" providerId="ADAL" clId="{790A2CF0-CC9C-45AB-9325-C58A51048A54}" dt="2026-09-10T17:32:04.148" v="62" actId="1076"/>
          <ac:spMkLst>
            <pc:docMk/>
            <pc:sldMk cId="0" sldId="258"/>
            <ac:spMk id="224" creationId="{A28235B1-F987-58D7-338E-FC11D725B453}"/>
          </ac:spMkLst>
        </pc:spChg>
        <pc:spChg chg="mod">
          <ac:chgData name="KUDUPUDI RUDHEER-[CH.SC.U4AIE25074]" userId="560eb7fe-7e89-4e35-b57b-8633bc05cfda" providerId="ADAL" clId="{790A2CF0-CC9C-45AB-9325-C58A51048A54}" dt="2026-09-10T17:30:49.988" v="24" actId="1076"/>
          <ac:spMkLst>
            <pc:docMk/>
            <pc:sldMk cId="0" sldId="258"/>
            <ac:spMk id="228" creationId="{96F04240-413D-077C-DA74-D6CA972D25B4}"/>
          </ac:spMkLst>
        </pc:spChg>
        <pc:spChg chg="mod">
          <ac:chgData name="KUDUPUDI RUDHEER-[CH.SC.U4AIE25074]" userId="560eb7fe-7e89-4e35-b57b-8633bc05cfda" providerId="ADAL" clId="{790A2CF0-CC9C-45AB-9325-C58A51048A54}" dt="2026-09-10T17:32:07.418" v="69" actId="403"/>
          <ac:spMkLst>
            <pc:docMk/>
            <pc:sldMk cId="0" sldId="258"/>
            <ac:spMk id="230" creationId="{6EF01E2D-6B2B-0FEE-F57E-488DEE4F0FDF}"/>
          </ac:spMkLst>
        </pc:spChg>
        <pc:spChg chg="del">
          <ac:chgData name="KUDUPUDI RUDHEER-[CH.SC.U4AIE25074]" userId="560eb7fe-7e89-4e35-b57b-8633bc05cfda" providerId="ADAL" clId="{790A2CF0-CC9C-45AB-9325-C58A51048A54}" dt="2026-09-10T17:31:32.558" v="29" actId="478"/>
          <ac:spMkLst>
            <pc:docMk/>
            <pc:sldMk cId="0" sldId="258"/>
            <ac:spMk id="232" creationId="{A28852D4-BA52-882F-D399-BA8D9D9FB691}"/>
          </ac:spMkLst>
        </pc:spChg>
        <pc:spChg chg="del mod">
          <ac:chgData name="KUDUPUDI RUDHEER-[CH.SC.U4AIE25074]" userId="560eb7fe-7e89-4e35-b57b-8633bc05cfda" providerId="ADAL" clId="{790A2CF0-CC9C-45AB-9325-C58A51048A54}" dt="2026-09-10T17:31:30.902" v="28" actId="478"/>
          <ac:spMkLst>
            <pc:docMk/>
            <pc:sldMk cId="0" sldId="258"/>
            <ac:spMk id="234" creationId="{A83D6E91-F63F-CB89-F7A9-909461C678B9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2:15.228" v="72"/>
        <pc:sldMkLst>
          <pc:docMk/>
          <pc:sldMk cId="0" sldId="259"/>
        </pc:sldMkLst>
        <pc:spChg chg="mod">
          <ac:chgData name="KUDUPUDI RUDHEER-[CH.SC.U4AIE25074]" userId="560eb7fe-7e89-4e35-b57b-8633bc05cfda" providerId="ADAL" clId="{790A2CF0-CC9C-45AB-9325-C58A51048A54}" dt="2026-09-10T16:51:17.837" v="10" actId="14100"/>
          <ac:spMkLst>
            <pc:docMk/>
            <pc:sldMk cId="0" sldId="259"/>
            <ac:spMk id="105" creationId="{414E68DB-79B6-E302-D41B-167E973CBCAF}"/>
          </ac:spMkLst>
        </pc:spChg>
        <pc:spChg chg="mod">
          <ac:chgData name="KUDUPUDI RUDHEER-[CH.SC.U4AIE25074]" userId="560eb7fe-7e89-4e35-b57b-8633bc05cfda" providerId="ADAL" clId="{790A2CF0-CC9C-45AB-9325-C58A51048A54}" dt="2026-09-10T16:51:24.537" v="12" actId="14100"/>
          <ac:spMkLst>
            <pc:docMk/>
            <pc:sldMk cId="0" sldId="259"/>
            <ac:spMk id="109" creationId="{BF9F9055-5594-42CD-48F7-CC439138F9DA}"/>
          </ac:spMkLst>
        </pc:spChg>
        <pc:spChg chg="del mod">
          <ac:chgData name="KUDUPUDI RUDHEER-[CH.SC.U4AIE25074]" userId="560eb7fe-7e89-4e35-b57b-8633bc05cfda" providerId="ADAL" clId="{790A2CF0-CC9C-45AB-9325-C58A51048A54}" dt="2026-09-10T17:32:15.228" v="72"/>
          <ac:spMkLst>
            <pc:docMk/>
            <pc:sldMk cId="0" sldId="259"/>
            <ac:spMk id="111" creationId="{412D9D50-7B89-F7D8-01E4-390B0FE4E454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2:35.857" v="79"/>
        <pc:sldMkLst>
          <pc:docMk/>
          <pc:sldMk cId="0" sldId="260"/>
        </pc:sldMkLst>
        <pc:spChg chg="del mod">
          <ac:chgData name="KUDUPUDI RUDHEER-[CH.SC.U4AIE25074]" userId="560eb7fe-7e89-4e35-b57b-8633bc05cfda" providerId="ADAL" clId="{790A2CF0-CC9C-45AB-9325-C58A51048A54}" dt="2026-09-10T17:32:35.857" v="79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KUDUPUDI RUDHEER-[CH.SC.U4AIE25074]" userId="560eb7fe-7e89-4e35-b57b-8633bc05cfda" providerId="ADAL" clId="{790A2CF0-CC9C-45AB-9325-C58A51048A54}" dt="2026-09-10T17:32:35.857" v="77"/>
          <ac:spMkLst>
            <pc:docMk/>
            <pc:sldMk cId="0" sldId="260"/>
            <ac:spMk id="15" creationId="{00000000-0000-0000-0000-000000000000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3:04.055" v="83"/>
        <pc:sldMkLst>
          <pc:docMk/>
          <pc:sldMk cId="0" sldId="261"/>
        </pc:sldMkLst>
        <pc:spChg chg="del">
          <ac:chgData name="KUDUPUDI RUDHEER-[CH.SC.U4AIE25074]" userId="560eb7fe-7e89-4e35-b57b-8633bc05cfda" providerId="ADAL" clId="{790A2CF0-CC9C-45AB-9325-C58A51048A54}" dt="2026-09-10T17:32:55.124" v="80" actId="478"/>
          <ac:spMkLst>
            <pc:docMk/>
            <pc:sldMk cId="0" sldId="261"/>
            <ac:spMk id="25" creationId="{E6CD7F56-11F9-411B-C6E9-73B4E427CBB0}"/>
          </ac:spMkLst>
        </pc:spChg>
        <pc:spChg chg="del mod">
          <ac:chgData name="KUDUPUDI RUDHEER-[CH.SC.U4AIE25074]" userId="560eb7fe-7e89-4e35-b57b-8633bc05cfda" providerId="ADAL" clId="{790A2CF0-CC9C-45AB-9325-C58A51048A54}" dt="2026-09-10T17:33:04.055" v="83"/>
          <ac:spMkLst>
            <pc:docMk/>
            <pc:sldMk cId="0" sldId="261"/>
            <ac:spMk id="125" creationId="{93143C62-DEC6-C475-3994-1205AE6A596A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3:15.776" v="87"/>
        <pc:sldMkLst>
          <pc:docMk/>
          <pc:sldMk cId="0" sldId="262"/>
        </pc:sldMkLst>
        <pc:spChg chg="del">
          <ac:chgData name="KUDUPUDI RUDHEER-[CH.SC.U4AIE25074]" userId="560eb7fe-7e89-4e35-b57b-8633bc05cfda" providerId="ADAL" clId="{790A2CF0-CC9C-45AB-9325-C58A51048A54}" dt="2026-09-10T17:33:15.776" v="85" actId="478"/>
          <ac:spMkLst>
            <pc:docMk/>
            <pc:sldMk cId="0" sldId="262"/>
            <ac:spMk id="36" creationId="{E7C6DB9D-A036-4F1C-21A3-AB18A890BC33}"/>
          </ac:spMkLst>
        </pc:spChg>
        <pc:spChg chg="del mod">
          <ac:chgData name="KUDUPUDI RUDHEER-[CH.SC.U4AIE25074]" userId="560eb7fe-7e89-4e35-b57b-8633bc05cfda" providerId="ADAL" clId="{790A2CF0-CC9C-45AB-9325-C58A51048A54}" dt="2026-09-10T17:33:15.776" v="87"/>
          <ac:spMkLst>
            <pc:docMk/>
            <pc:sldMk cId="0" sldId="262"/>
            <ac:spMk id="150" creationId="{E38EFE26-8D21-25EE-0C30-B7AE91BBF3E2}"/>
          </ac:spMkLst>
        </pc:spChg>
      </pc:sldChg>
      <pc:sldChg chg="delSp mod">
        <pc:chgData name="KUDUPUDI RUDHEER-[CH.SC.U4AIE25074]" userId="560eb7fe-7e89-4e35-b57b-8633bc05cfda" providerId="ADAL" clId="{790A2CF0-CC9C-45AB-9325-C58A51048A54}" dt="2026-09-10T17:33:21.551" v="88" actId="478"/>
        <pc:sldMkLst>
          <pc:docMk/>
          <pc:sldMk cId="0" sldId="263"/>
        </pc:sldMkLst>
        <pc:cxnChg chg="del">
          <ac:chgData name="KUDUPUDI RUDHEER-[CH.SC.U4AIE25074]" userId="560eb7fe-7e89-4e35-b57b-8633bc05cfda" providerId="ADAL" clId="{790A2CF0-CC9C-45AB-9325-C58A51048A54}" dt="2026-09-10T17:33:21.551" v="88" actId="478"/>
          <ac:cxnSpMkLst>
            <pc:docMk/>
            <pc:sldMk cId="0" sldId="263"/>
            <ac:cxnSpMk id="21" creationId="{00000000-0000-0000-0000-000000000000}"/>
          </ac:cxnSpMkLst>
        </pc:cxnChg>
      </pc:sldChg>
      <pc:sldChg chg="modSp mod">
        <pc:chgData name="KUDUPUDI RUDHEER-[CH.SC.U4AIE25074]" userId="560eb7fe-7e89-4e35-b57b-8633bc05cfda" providerId="ADAL" clId="{790A2CF0-CC9C-45AB-9325-C58A51048A54}" dt="2026-09-10T17:35:13.646" v="98" actId="255"/>
        <pc:sldMkLst>
          <pc:docMk/>
          <pc:sldMk cId="0" sldId="265"/>
        </pc:sldMkLst>
        <pc:spChg chg="mod">
          <ac:chgData name="KUDUPUDI RUDHEER-[CH.SC.U4AIE25074]" userId="560eb7fe-7e89-4e35-b57b-8633bc05cfda" providerId="ADAL" clId="{790A2CF0-CC9C-45AB-9325-C58A51048A54}" dt="2026-09-10T17:34:42.770" v="92" actId="20577"/>
          <ac:spMkLst>
            <pc:docMk/>
            <pc:sldMk cId="0" sldId="265"/>
            <ac:spMk id="110" creationId="{BF3C885F-0C4E-3560-F027-E1F68370879B}"/>
          </ac:spMkLst>
        </pc:spChg>
        <pc:spChg chg="mod">
          <ac:chgData name="KUDUPUDI RUDHEER-[CH.SC.U4AIE25074]" userId="560eb7fe-7e89-4e35-b57b-8633bc05cfda" providerId="ADAL" clId="{790A2CF0-CC9C-45AB-9325-C58A51048A54}" dt="2026-09-10T17:35:05.342" v="95" actId="255"/>
          <ac:spMkLst>
            <pc:docMk/>
            <pc:sldMk cId="0" sldId="265"/>
            <ac:spMk id="116" creationId="{30759BDA-4D51-1848-7759-0ACA8610DCD2}"/>
          </ac:spMkLst>
        </pc:spChg>
        <pc:spChg chg="mod">
          <ac:chgData name="KUDUPUDI RUDHEER-[CH.SC.U4AIE25074]" userId="560eb7fe-7e89-4e35-b57b-8633bc05cfda" providerId="ADAL" clId="{790A2CF0-CC9C-45AB-9325-C58A51048A54}" dt="2026-09-10T17:34:51.871" v="93" actId="255"/>
          <ac:spMkLst>
            <pc:docMk/>
            <pc:sldMk cId="0" sldId="265"/>
            <ac:spMk id="122" creationId="{00BED1AD-B6A6-A212-FC1A-64F18A691798}"/>
          </ac:spMkLst>
        </pc:spChg>
        <pc:spChg chg="mod">
          <ac:chgData name="KUDUPUDI RUDHEER-[CH.SC.U4AIE25074]" userId="560eb7fe-7e89-4e35-b57b-8633bc05cfda" providerId="ADAL" clId="{790A2CF0-CC9C-45AB-9325-C58A51048A54}" dt="2026-09-10T17:35:00.084" v="94" actId="255"/>
          <ac:spMkLst>
            <pc:docMk/>
            <pc:sldMk cId="0" sldId="265"/>
            <ac:spMk id="128" creationId="{FF0AC64E-53DB-2789-C5C7-4B440E0564C8}"/>
          </ac:spMkLst>
        </pc:spChg>
        <pc:spChg chg="mod">
          <ac:chgData name="KUDUPUDI RUDHEER-[CH.SC.U4AIE25074]" userId="560eb7fe-7e89-4e35-b57b-8633bc05cfda" providerId="ADAL" clId="{790A2CF0-CC9C-45AB-9325-C58A51048A54}" dt="2026-09-10T17:35:13.646" v="98" actId="255"/>
          <ac:spMkLst>
            <pc:docMk/>
            <pc:sldMk cId="0" sldId="265"/>
            <ac:spMk id="134" creationId="{2C98E2B6-B0E1-9411-2451-86939B146D9B}"/>
          </ac:spMkLst>
        </pc:spChg>
      </pc:sldChg>
      <pc:sldChg chg="addSp delSp modSp mod">
        <pc:chgData name="KUDUPUDI RUDHEER-[CH.SC.U4AIE25074]" userId="560eb7fe-7e89-4e35-b57b-8633bc05cfda" providerId="ADAL" clId="{790A2CF0-CC9C-45AB-9325-C58A51048A54}" dt="2026-09-10T17:36:51.276" v="126" actId="255"/>
        <pc:sldMkLst>
          <pc:docMk/>
          <pc:sldMk cId="0" sldId="266"/>
        </pc:sldMkLst>
        <pc:spChg chg="add del mod">
          <ac:chgData name="KUDUPUDI RUDHEER-[CH.SC.U4AIE25074]" userId="560eb7fe-7e89-4e35-b57b-8633bc05cfda" providerId="ADAL" clId="{790A2CF0-CC9C-45AB-9325-C58A51048A54}" dt="2026-09-10T17:35:59.889" v="116"/>
          <ac:spMkLst>
            <pc:docMk/>
            <pc:sldMk cId="0" sldId="266"/>
            <ac:spMk id="2" creationId="{46271912-CE22-4EBA-56C1-3B68E37A63AA}"/>
          </ac:spMkLst>
        </pc:spChg>
        <pc:spChg chg="del">
          <ac:chgData name="KUDUPUDI RUDHEER-[CH.SC.U4AIE25074]" userId="560eb7fe-7e89-4e35-b57b-8633bc05cfda" providerId="ADAL" clId="{790A2CF0-CC9C-45AB-9325-C58A51048A54}" dt="2026-09-10T17:35:25.879" v="99" actId="478"/>
          <ac:spMkLst>
            <pc:docMk/>
            <pc:sldMk cId="0" sldId="266"/>
            <ac:spMk id="18" creationId="{F1BCAF2B-EA32-22FF-EF12-2B96F9A1A1BA}"/>
          </ac:spMkLst>
        </pc:spChg>
        <pc:spChg chg="mod">
          <ac:chgData name="KUDUPUDI RUDHEER-[CH.SC.U4AIE25074]" userId="560eb7fe-7e89-4e35-b57b-8633bc05cfda" providerId="ADAL" clId="{790A2CF0-CC9C-45AB-9325-C58A51048A54}" dt="2026-09-10T17:36:06.117" v="118" actId="1076"/>
          <ac:spMkLst>
            <pc:docMk/>
            <pc:sldMk cId="0" sldId="266"/>
            <ac:spMk id="154" creationId="{FDEE78A1-58C3-759F-F350-41FE3F339896}"/>
          </ac:spMkLst>
        </pc:spChg>
        <pc:spChg chg="mod">
          <ac:chgData name="KUDUPUDI RUDHEER-[CH.SC.U4AIE25074]" userId="560eb7fe-7e89-4e35-b57b-8633bc05cfda" providerId="ADAL" clId="{790A2CF0-CC9C-45AB-9325-C58A51048A54}" dt="2026-09-10T17:35:57.216" v="114" actId="14100"/>
          <ac:spMkLst>
            <pc:docMk/>
            <pc:sldMk cId="0" sldId="266"/>
            <ac:spMk id="158" creationId="{3FC66D4B-8FD3-9603-8FDA-82713636FF5B}"/>
          </ac:spMkLst>
        </pc:spChg>
        <pc:spChg chg="mod">
          <ac:chgData name="KUDUPUDI RUDHEER-[CH.SC.U4AIE25074]" userId="560eb7fe-7e89-4e35-b57b-8633bc05cfda" providerId="ADAL" clId="{790A2CF0-CC9C-45AB-9325-C58A51048A54}" dt="2026-09-10T17:35:52.621" v="112" actId="1076"/>
          <ac:spMkLst>
            <pc:docMk/>
            <pc:sldMk cId="0" sldId="266"/>
            <ac:spMk id="162" creationId="{44987C80-B375-01FF-5E83-9CFDA64C96C5}"/>
          </ac:spMkLst>
        </pc:spChg>
        <pc:spChg chg="mod">
          <ac:chgData name="KUDUPUDI RUDHEER-[CH.SC.U4AIE25074]" userId="560eb7fe-7e89-4e35-b57b-8633bc05cfda" providerId="ADAL" clId="{790A2CF0-CC9C-45AB-9325-C58A51048A54}" dt="2026-09-10T17:36:18.547" v="120" actId="207"/>
          <ac:spMkLst>
            <pc:docMk/>
            <pc:sldMk cId="0" sldId="266"/>
            <ac:spMk id="164" creationId="{CEB7576C-A381-1BB6-D868-CFA6797DFBC7}"/>
          </ac:spMkLst>
        </pc:spChg>
        <pc:spChg chg="mod">
          <ac:chgData name="KUDUPUDI RUDHEER-[CH.SC.U4AIE25074]" userId="560eb7fe-7e89-4e35-b57b-8633bc05cfda" providerId="ADAL" clId="{790A2CF0-CC9C-45AB-9325-C58A51048A54}" dt="2026-09-10T17:36:39.403" v="123" actId="255"/>
          <ac:spMkLst>
            <pc:docMk/>
            <pc:sldMk cId="0" sldId="266"/>
            <ac:spMk id="170" creationId="{24282412-435A-DA0C-D4FA-B72E6C8C7029}"/>
          </ac:spMkLst>
        </pc:spChg>
        <pc:spChg chg="mod">
          <ac:chgData name="KUDUPUDI RUDHEER-[CH.SC.U4AIE25074]" userId="560eb7fe-7e89-4e35-b57b-8633bc05cfda" providerId="ADAL" clId="{790A2CF0-CC9C-45AB-9325-C58A51048A54}" dt="2026-09-10T17:36:51.276" v="126" actId="255"/>
          <ac:spMkLst>
            <pc:docMk/>
            <pc:sldMk cId="0" sldId="266"/>
            <ac:spMk id="176" creationId="{69BADAF6-0994-F685-63BF-4E7D85F49B4D}"/>
          </ac:spMkLst>
        </pc:spChg>
        <pc:spChg chg="del mod">
          <ac:chgData name="KUDUPUDI RUDHEER-[CH.SC.U4AIE25074]" userId="560eb7fe-7e89-4e35-b57b-8633bc05cfda" providerId="ADAL" clId="{790A2CF0-CC9C-45AB-9325-C58A51048A54}" dt="2026-09-10T17:35:43.022" v="107"/>
          <ac:spMkLst>
            <pc:docMk/>
            <pc:sldMk cId="0" sldId="266"/>
            <ac:spMk id="178" creationId="{3EF3690D-1CC1-ED90-36A9-653DBCC4F637}"/>
          </ac:spMkLst>
        </pc:spChg>
        <pc:spChg chg="del mod">
          <ac:chgData name="KUDUPUDI RUDHEER-[CH.SC.U4AIE25074]" userId="560eb7fe-7e89-4e35-b57b-8633bc05cfda" providerId="ADAL" clId="{790A2CF0-CC9C-45AB-9325-C58A51048A54}" dt="2026-09-10T17:35:43.022" v="109"/>
          <ac:spMkLst>
            <pc:docMk/>
            <pc:sldMk cId="0" sldId="266"/>
            <ac:spMk id="180" creationId="{EC856D3B-74FE-AE93-94E7-D003A9D426BB}"/>
          </ac:spMkLst>
        </pc:spChg>
        <pc:spChg chg="del mod">
          <ac:chgData name="KUDUPUDI RUDHEER-[CH.SC.U4AIE25074]" userId="560eb7fe-7e89-4e35-b57b-8633bc05cfda" providerId="ADAL" clId="{790A2CF0-CC9C-45AB-9325-C58A51048A54}" dt="2026-09-10T17:35:43.022" v="105"/>
          <ac:spMkLst>
            <pc:docMk/>
            <pc:sldMk cId="0" sldId="266"/>
            <ac:spMk id="182" creationId="{9D88736C-A2FE-7766-AA80-147618B4B507}"/>
          </ac:spMkLst>
        </pc:spChg>
      </pc:sldChg>
      <pc:sldChg chg="delSp modSp mod">
        <pc:chgData name="KUDUPUDI RUDHEER-[CH.SC.U4AIE25074]" userId="560eb7fe-7e89-4e35-b57b-8633bc05cfda" providerId="ADAL" clId="{790A2CF0-CC9C-45AB-9325-C58A51048A54}" dt="2026-09-10T17:36:58.525" v="129"/>
        <pc:sldMkLst>
          <pc:docMk/>
          <pc:sldMk cId="0" sldId="267"/>
        </pc:sldMkLst>
        <pc:spChg chg="del mod">
          <ac:chgData name="KUDUPUDI RUDHEER-[CH.SC.U4AIE25074]" userId="560eb7fe-7e89-4e35-b57b-8633bc05cfda" providerId="ADAL" clId="{790A2CF0-CC9C-45AB-9325-C58A51048A54}" dt="2026-09-10T17:36:58.525" v="129"/>
          <ac:spMkLst>
            <pc:docMk/>
            <pc:sldMk cId="0" sldId="267"/>
            <ac:spMk id="19" creationId="{00000000-0000-0000-0000-000000000000}"/>
          </ac:spMkLst>
        </pc:spChg>
      </pc:sldChg>
      <pc:sldChg chg="addSp delSp modSp mod">
        <pc:chgData name="KUDUPUDI RUDHEER-[CH.SC.U4AIE25074]" userId="560eb7fe-7e89-4e35-b57b-8633bc05cfda" providerId="ADAL" clId="{790A2CF0-CC9C-45AB-9325-C58A51048A54}" dt="2026-09-10T17:37:40.167" v="139" actId="255"/>
        <pc:sldMkLst>
          <pc:docMk/>
          <pc:sldMk cId="0" sldId="268"/>
        </pc:sldMkLst>
        <pc:spChg chg="add del">
          <ac:chgData name="KUDUPUDI RUDHEER-[CH.SC.U4AIE25074]" userId="560eb7fe-7e89-4e35-b57b-8633bc05cfda" providerId="ADAL" clId="{790A2CF0-CC9C-45AB-9325-C58A51048A54}" dt="2026-09-10T17:37:30.845" v="138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KUDUPUDI RUDHEER-[CH.SC.U4AIE25074]" userId="560eb7fe-7e89-4e35-b57b-8633bc05cfda" providerId="ADAL" clId="{790A2CF0-CC9C-45AB-9325-C58A51048A54}" dt="2026-09-10T17:37:13.516" v="134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KUDUPUDI RUDHEER-[CH.SC.U4AIE25074]" userId="560eb7fe-7e89-4e35-b57b-8633bc05cfda" providerId="ADAL" clId="{790A2CF0-CC9C-45AB-9325-C58A51048A54}" dt="2026-09-10T17:37:40.167" v="139" actId="255"/>
          <ac:spMkLst>
            <pc:docMk/>
            <pc:sldMk cId="0" sldId="268"/>
            <ac:spMk id="30" creationId="{00000000-0000-0000-0000-000000000000}"/>
          </ac:spMkLst>
        </pc:spChg>
        <pc:picChg chg="mod">
          <ac:chgData name="KUDUPUDI RUDHEER-[CH.SC.U4AIE25074]" userId="560eb7fe-7e89-4e35-b57b-8633bc05cfda" providerId="ADAL" clId="{790A2CF0-CC9C-45AB-9325-C58A51048A54}" dt="2026-09-10T17:37:30.408" v="137" actId="14100"/>
          <ac:picMkLst>
            <pc:docMk/>
            <pc:sldMk cId="0" sldId="268"/>
            <ac:picMk id="8" creationId="{00000000-0000-0000-0000-000000000000}"/>
          </ac:picMkLst>
        </pc:picChg>
        <pc:picChg chg="mod">
          <ac:chgData name="KUDUPUDI RUDHEER-[CH.SC.U4AIE25074]" userId="560eb7fe-7e89-4e35-b57b-8633bc05cfda" providerId="ADAL" clId="{790A2CF0-CC9C-45AB-9325-C58A51048A54}" dt="2026-09-10T17:37:08.751" v="132" actId="14100"/>
          <ac:picMkLst>
            <pc:docMk/>
            <pc:sldMk cId="0" sldId="268"/>
            <ac:picMk id="2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47F11-0061-44D2-A82E-2D0230724891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9216F-A42E-43CD-A2F2-7EF9959FF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584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216F-A42E-43CD-A2F2-7EF9959FF56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94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scadia Mono"/>
              </a:rPr>
              <a:t>SKYSHIELD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0F6FC"/>
                </a:solidFill>
                <a:latin typeface="Aptos"/>
              </a:rPr>
              <a:t>REAL-TIME DRONE
COLLISION DETECTION
&amp; AIRSPACE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930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A00"/>
                </a:solidFill>
                <a:latin typeface="Cascadia Mono"/>
              </a:rPr>
              <a:t>DSA-2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CABBE"/>
                </a:solidFill>
                <a:latin typeface="Aptos"/>
              </a:rPr>
              <a:t>Geometric Data Structures + Computational Geometry</a:t>
            </a:r>
          </a:p>
        </p:txBody>
      </p:sp>
      <p:sp>
        <p:nvSpPr>
          <p:cNvPr id="6" name="Oval 5"/>
          <p:cNvSpPr/>
          <p:nvPr/>
        </p:nvSpPr>
        <p:spPr>
          <a:xfrm>
            <a:off x="7863840" y="1554480"/>
            <a:ext cx="3657600" cy="3657600"/>
          </a:xfrm>
          <a:prstGeom prst="ellipse">
            <a:avLst/>
          </a:prstGeom>
          <a:noFill/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66760" y="2057400"/>
            <a:ext cx="2651760" cy="2651760"/>
          </a:xfrm>
          <a:prstGeom prst="ellipse">
            <a:avLst/>
          </a:prstGeom>
          <a:noFill/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0" y="2560320"/>
            <a:ext cx="1645920" cy="1645920"/>
          </a:xfrm>
          <a:prstGeom prst="ellipse">
            <a:avLst/>
          </a:prstGeom>
          <a:noFill/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45167" y="3035808"/>
            <a:ext cx="694944" cy="694944"/>
          </a:xfrm>
          <a:prstGeom prst="ellipse">
            <a:avLst/>
          </a:prstGeom>
          <a:noFill/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9692640" y="2423160"/>
            <a:ext cx="1554479" cy="960120"/>
          </a:xfrm>
          <a:prstGeom prst="line">
            <a:avLst/>
          </a:prstGeom>
          <a:ln w="2286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85632" y="2313432"/>
            <a:ext cx="128016" cy="128016"/>
          </a:xfrm>
          <a:prstGeom prst="ellipse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97312" y="1947672"/>
            <a:ext cx="128016" cy="128016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71632" y="4142231"/>
            <a:ext cx="128016" cy="128016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94192" y="4325112"/>
            <a:ext cx="128016" cy="12801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61447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CABBE"/>
                </a:solidFill>
                <a:latin typeface="Aptos"/>
              </a:rPr>
              <a:t>B.Tech CSE (AI)  |  Academic Year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308" y="4359476"/>
            <a:ext cx="4160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0F6FC"/>
                </a:solidFill>
                <a:latin typeface="Aptos" panose="020B0004020202020204" pitchFamily="34" charset="0"/>
              </a:rPr>
              <a:t>J. Trinesh — CH.SC.U4AIE25022
V. Srikar — CH.SC.U4AIE25054
</a:t>
            </a:r>
            <a:r>
              <a:rPr lang="en-IN" sz="1400" b="1" dirty="0">
                <a:solidFill>
                  <a:srgbClr val="F0F6FC"/>
                </a:solidFill>
                <a:latin typeface="Aptos" panose="020B0004020202020204" pitchFamily="34" charset="0"/>
              </a:rPr>
              <a:t>Tridev </a:t>
            </a:r>
            <a:r>
              <a:rPr lang="en-IN" sz="1400" b="1" dirty="0" err="1">
                <a:solidFill>
                  <a:srgbClr val="F0F6FC"/>
                </a:solidFill>
                <a:latin typeface="Aptos" panose="020B0004020202020204" pitchFamily="34" charset="0"/>
              </a:rPr>
              <a:t>Badari.R</a:t>
            </a:r>
            <a:r>
              <a:rPr sz="1400" b="1" dirty="0">
                <a:solidFill>
                  <a:srgbClr val="F0F6FC"/>
                </a:solidFill>
                <a:latin typeface="Aptos" panose="020B0004020202020204" pitchFamily="34" charset="0"/>
              </a:rPr>
              <a:t>— CH.SC.U4AIE25069
K. </a:t>
            </a:r>
            <a:r>
              <a:rPr sz="1400" b="1" dirty="0" err="1">
                <a:solidFill>
                  <a:srgbClr val="F0F6FC"/>
                </a:solidFill>
                <a:latin typeface="Aptos" panose="020B0004020202020204" pitchFamily="34" charset="0"/>
              </a:rPr>
              <a:t>Rudheer</a:t>
            </a:r>
            <a:r>
              <a:rPr sz="1400" b="1" dirty="0">
                <a:solidFill>
                  <a:srgbClr val="F0F6FC"/>
                </a:solidFill>
                <a:latin typeface="Aptos" panose="020B0004020202020204" pitchFamily="34" charset="0"/>
              </a:rPr>
              <a:t> — CH.SC.U4AIE25074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5740" y="4270247"/>
            <a:ext cx="4160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Aptos" panose="020B0004020202020204" pitchFamily="34" charset="0"/>
              </a:rPr>
              <a:t>DSA – 2
Course Code: 22AIE203
Department: CSE (AI)
Faculty / Project Guide: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N" sz="1400" b="1" dirty="0" err="1">
                <a:solidFill>
                  <a:schemeClr val="bg1"/>
                </a:solidFill>
                <a:latin typeface="Aptos" panose="020B0004020202020204" pitchFamily="34" charset="0"/>
              </a:rPr>
              <a:t>Dr.G.Bharati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Mohan</a:t>
            </a:r>
            <a:r>
              <a:rPr sz="1400" b="1" dirty="0">
                <a:solidFill>
                  <a:schemeClr val="bg1"/>
                </a:solidFill>
                <a:latin typeface="Aptos" panose="020B0004020202020204" pitchFamily="34" charset="0"/>
              </a:rPr>
              <a:t>
Academic Year: 202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5-2029</a:t>
            </a:r>
            <a:endParaRPr sz="1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9A727E4-3964-A287-A71C-4F7BB3148FDE}"/>
              </a:ext>
            </a:extLst>
          </p:cNvPr>
          <p:cNvSpPr txBox="1"/>
          <p:nvPr/>
        </p:nvSpPr>
        <p:spPr>
          <a:xfrm>
            <a:off x="594360" y="274320"/>
            <a:ext cx="8229600" cy="42062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500" b="1">
                <a:solidFill>
                  <a:srgbClr val="EBF5FA"/>
                </a:solidFill>
                <a:latin typeface="Aptos"/>
              </a:rPr>
              <a:t>Project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83A48E-95A3-914D-EF6A-177FE7392A36}"/>
              </a:ext>
            </a:extLst>
          </p:cNvPr>
          <p:cNvSpPr txBox="1"/>
          <p:nvPr/>
        </p:nvSpPr>
        <p:spPr>
          <a:xfrm>
            <a:off x="594360" y="722376"/>
            <a:ext cx="98755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0">
                <a:solidFill>
                  <a:srgbClr val="9BB4C3"/>
                </a:solidFill>
                <a:latin typeface="Aptos"/>
              </a:rPr>
              <a:t>SKYSHIELD — Real-Time Drone Collision Detection &amp; Airspace Monitoring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DCEF8D-BC93-A826-D656-A976AC64676D}"/>
              </a:ext>
            </a:extLst>
          </p:cNvPr>
          <p:cNvSpPr txBox="1"/>
          <p:nvPr/>
        </p:nvSpPr>
        <p:spPr>
          <a:xfrm>
            <a:off x="10972800" y="384048"/>
            <a:ext cx="6400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00" b="1">
                <a:solidFill>
                  <a:srgbClr val="32D2DC"/>
                </a:solidFill>
                <a:latin typeface="Aptos"/>
              </a:rPr>
              <a:t>02</a:t>
            </a:r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8A6E4D24-D798-2614-C0ED-A2D0B4F31673}"/>
              </a:ext>
            </a:extLst>
          </p:cNvPr>
          <p:cNvSpPr/>
          <p:nvPr/>
        </p:nvSpPr>
        <p:spPr>
          <a:xfrm>
            <a:off x="594360" y="1261872"/>
            <a:ext cx="5303520" cy="141732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9CFC7D-1991-DD22-DEEC-C7800BBD8982}"/>
              </a:ext>
            </a:extLst>
          </p:cNvPr>
          <p:cNvSpPr/>
          <p:nvPr/>
        </p:nvSpPr>
        <p:spPr>
          <a:xfrm>
            <a:off x="758952" y="1426463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6E92A1-4EA6-7042-1ABC-EC9F593CB3B9}"/>
              </a:ext>
            </a:extLst>
          </p:cNvPr>
          <p:cNvSpPr txBox="1"/>
          <p:nvPr/>
        </p:nvSpPr>
        <p:spPr>
          <a:xfrm>
            <a:off x="758952" y="1527048"/>
            <a:ext cx="365760" cy="1188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700" b="1">
                <a:solidFill>
                  <a:srgbClr val="08121E"/>
                </a:solidFill>
                <a:latin typeface="Aptos"/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E1801F-4A90-974B-AD1A-F2363F2A71C3}"/>
              </a:ext>
            </a:extLst>
          </p:cNvPr>
          <p:cNvSpPr txBox="1"/>
          <p:nvPr/>
        </p:nvSpPr>
        <p:spPr>
          <a:xfrm>
            <a:off x="1252728" y="1417319"/>
            <a:ext cx="448055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BRIEF INTRODUCTION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7AE010-E16D-D4D8-5DF0-CC6831BA690D}"/>
              </a:ext>
            </a:extLst>
          </p:cNvPr>
          <p:cNvSpPr txBox="1"/>
          <p:nvPr/>
        </p:nvSpPr>
        <p:spPr>
          <a:xfrm>
            <a:off x="795528" y="1865376"/>
            <a:ext cx="4901183" cy="6675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EBF5FA"/>
                </a:solidFill>
                <a:latin typeface="Aptos"/>
              </a:rPr>
              <a:t>SKYSHIELD is a DSA-based monitoring system that tracks drone movement in 3D airspace, detects potential drone collisions, and identifies no-fly-zone violations.</a:t>
            </a:r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A7D86C2B-1388-8B02-6FC7-A5979018103A}"/>
              </a:ext>
            </a:extLst>
          </p:cNvPr>
          <p:cNvSpPr/>
          <p:nvPr/>
        </p:nvSpPr>
        <p:spPr>
          <a:xfrm>
            <a:off x="6126480" y="1261872"/>
            <a:ext cx="5440680" cy="141732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1B65B1-7AB7-927F-DD9C-70D9EC5DC9ED}"/>
              </a:ext>
            </a:extLst>
          </p:cNvPr>
          <p:cNvSpPr/>
          <p:nvPr/>
        </p:nvSpPr>
        <p:spPr>
          <a:xfrm>
            <a:off x="6291072" y="1426463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6E54C0-7D9F-F37B-053A-77F58EAA75EA}"/>
              </a:ext>
            </a:extLst>
          </p:cNvPr>
          <p:cNvSpPr txBox="1"/>
          <p:nvPr/>
        </p:nvSpPr>
        <p:spPr>
          <a:xfrm>
            <a:off x="6291072" y="1527048"/>
            <a:ext cx="365760" cy="1188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700" b="1">
                <a:solidFill>
                  <a:srgbClr val="08121E"/>
                </a:solidFill>
                <a:latin typeface="Aptos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22ED3B-2BF3-2344-5CC1-25F06F720F45}"/>
              </a:ext>
            </a:extLst>
          </p:cNvPr>
          <p:cNvSpPr txBox="1"/>
          <p:nvPr/>
        </p:nvSpPr>
        <p:spPr>
          <a:xfrm>
            <a:off x="6784848" y="1417319"/>
            <a:ext cx="46177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2D2DC"/>
                </a:solidFill>
                <a:latin typeface="Aptos"/>
              </a:rPr>
              <a:t>APPLICATION DOMAIN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3D7CFD-F51A-5C2C-97E3-FEC1231AA06A}"/>
              </a:ext>
            </a:extLst>
          </p:cNvPr>
          <p:cNvSpPr txBox="1"/>
          <p:nvPr/>
        </p:nvSpPr>
        <p:spPr>
          <a:xfrm>
            <a:off x="6327648" y="1865376"/>
            <a:ext cx="5038344" cy="6675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EBF5FA"/>
                </a:solidFill>
                <a:latin typeface="Aptos"/>
              </a:rPr>
              <a:t>Drone airspace management and autonomous aerial systems, with a focus on spatial data structures, geometric search, collision detection, and real-time monitoring.</a:t>
            </a:r>
          </a:p>
        </p:txBody>
      </p:sp>
      <p:sp>
        <p:nvSpPr>
          <p:cNvPr id="55" name="Rounded Rectangle 14">
            <a:extLst>
              <a:ext uri="{FF2B5EF4-FFF2-40B4-BE49-F238E27FC236}">
                <a16:creationId xmlns:a16="http://schemas.microsoft.com/office/drawing/2014/main" id="{515AB274-0A14-B9C8-8F8F-333EDF4E7F51}"/>
              </a:ext>
            </a:extLst>
          </p:cNvPr>
          <p:cNvSpPr/>
          <p:nvPr/>
        </p:nvSpPr>
        <p:spPr>
          <a:xfrm>
            <a:off x="594360" y="2953512"/>
            <a:ext cx="5303520" cy="141732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83CFA4E-022A-8AB2-240D-77139EFDA116}"/>
              </a:ext>
            </a:extLst>
          </p:cNvPr>
          <p:cNvSpPr/>
          <p:nvPr/>
        </p:nvSpPr>
        <p:spPr>
          <a:xfrm>
            <a:off x="758952" y="3118104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B883B6-0677-AE7A-D2A1-2E16C58BAF4B}"/>
              </a:ext>
            </a:extLst>
          </p:cNvPr>
          <p:cNvSpPr txBox="1"/>
          <p:nvPr/>
        </p:nvSpPr>
        <p:spPr>
          <a:xfrm>
            <a:off x="758952" y="3218688"/>
            <a:ext cx="365760" cy="1188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700" b="1">
                <a:solidFill>
                  <a:srgbClr val="08121E"/>
                </a:solidFill>
                <a:latin typeface="Aptos"/>
              </a:rPr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2333AB-247B-E619-FC23-C59800AFB756}"/>
              </a:ext>
            </a:extLst>
          </p:cNvPr>
          <p:cNvSpPr txBox="1"/>
          <p:nvPr/>
        </p:nvSpPr>
        <p:spPr>
          <a:xfrm>
            <a:off x="1252728" y="3108960"/>
            <a:ext cx="4480559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2D2DC"/>
                </a:solidFill>
                <a:latin typeface="Aptos"/>
              </a:rPr>
              <a:t>BACKGROUND OF THE PROBLEM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60AAC7-0924-B25E-3228-875909C3AD7D}"/>
              </a:ext>
            </a:extLst>
          </p:cNvPr>
          <p:cNvSpPr txBox="1"/>
          <p:nvPr/>
        </p:nvSpPr>
        <p:spPr>
          <a:xfrm>
            <a:off x="795528" y="3557016"/>
            <a:ext cx="4901183" cy="6675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EBF5FA"/>
                </a:solidFill>
                <a:latin typeface="Aptos"/>
              </a:rPr>
              <a:t>Multiple drones can operate simultaneously and change position continuously. Checking every drone pair repeatedly creates unnecessary comparisons as the fleet grows.</a:t>
            </a:r>
          </a:p>
        </p:txBody>
      </p:sp>
      <p:sp>
        <p:nvSpPr>
          <p:cNvPr id="65" name="Rounded Rectangle 19">
            <a:extLst>
              <a:ext uri="{FF2B5EF4-FFF2-40B4-BE49-F238E27FC236}">
                <a16:creationId xmlns:a16="http://schemas.microsoft.com/office/drawing/2014/main" id="{B305B163-3C47-5F87-ECF8-0856AAB6D4DF}"/>
              </a:ext>
            </a:extLst>
          </p:cNvPr>
          <p:cNvSpPr/>
          <p:nvPr/>
        </p:nvSpPr>
        <p:spPr>
          <a:xfrm>
            <a:off x="6126480" y="2953512"/>
            <a:ext cx="5440680" cy="141732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D21531-7DDE-0750-4D2E-4045952BC614}"/>
              </a:ext>
            </a:extLst>
          </p:cNvPr>
          <p:cNvSpPr/>
          <p:nvPr/>
        </p:nvSpPr>
        <p:spPr>
          <a:xfrm>
            <a:off x="6291072" y="3118104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D80A7C-F6EB-652B-7C55-BC0C79D08015}"/>
              </a:ext>
            </a:extLst>
          </p:cNvPr>
          <p:cNvSpPr txBox="1"/>
          <p:nvPr/>
        </p:nvSpPr>
        <p:spPr>
          <a:xfrm>
            <a:off x="6291072" y="3218688"/>
            <a:ext cx="365760" cy="1188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700" b="1">
                <a:solidFill>
                  <a:srgbClr val="08121E"/>
                </a:solidFill>
                <a:latin typeface="Aptos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8FD829-524A-8EC5-D065-B2E5B807F397}"/>
              </a:ext>
            </a:extLst>
          </p:cNvPr>
          <p:cNvSpPr txBox="1"/>
          <p:nvPr/>
        </p:nvSpPr>
        <p:spPr>
          <a:xfrm>
            <a:off x="6784848" y="3108960"/>
            <a:ext cx="46177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IMPORTANCE OF THE PROBLEM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952F13-2BC6-9120-F0A0-F1891BC9C87C}"/>
              </a:ext>
            </a:extLst>
          </p:cNvPr>
          <p:cNvSpPr txBox="1"/>
          <p:nvPr/>
        </p:nvSpPr>
        <p:spPr>
          <a:xfrm>
            <a:off x="6327648" y="3557016"/>
            <a:ext cx="5038344" cy="6675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19" b="0">
                <a:solidFill>
                  <a:srgbClr val="EBF5FA"/>
                </a:solidFill>
                <a:latin typeface="Aptos"/>
              </a:rPr>
              <a:t>A missed proximity conflict can lead to collisions, mission failure, equipment damage, or unsafe airspace usage. Fast spatial detection is therefore important for coordinated drone operation.</a:t>
            </a:r>
          </a:p>
        </p:txBody>
      </p:sp>
      <p:sp>
        <p:nvSpPr>
          <p:cNvPr id="75" name="Rounded Rectangle 24">
            <a:extLst>
              <a:ext uri="{FF2B5EF4-FFF2-40B4-BE49-F238E27FC236}">
                <a16:creationId xmlns:a16="http://schemas.microsoft.com/office/drawing/2014/main" id="{6F2686D5-CD34-BD5E-656E-32E100DB2A49}"/>
              </a:ext>
            </a:extLst>
          </p:cNvPr>
          <p:cNvSpPr/>
          <p:nvPr/>
        </p:nvSpPr>
        <p:spPr>
          <a:xfrm>
            <a:off x="594360" y="4681728"/>
            <a:ext cx="10972800" cy="1170432"/>
          </a:xfrm>
          <a:prstGeom prst="roundRect">
            <a:avLst/>
          </a:prstGeom>
          <a:solidFill>
            <a:srgbClr val="122535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C4351-BC9D-1907-C480-BB5F93A8D37E}"/>
              </a:ext>
            </a:extLst>
          </p:cNvPr>
          <p:cNvSpPr txBox="1"/>
          <p:nvPr/>
        </p:nvSpPr>
        <p:spPr>
          <a:xfrm>
            <a:off x="841248" y="4846320"/>
            <a:ext cx="2743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FFAA46"/>
                </a:solidFill>
                <a:latin typeface="Aptos"/>
              </a:rPr>
              <a:t>05  NEED FOR THE PROPOSED SYSTEM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C935C1-F324-C4FF-DFD4-9897A5ADD292}"/>
              </a:ext>
            </a:extLst>
          </p:cNvPr>
          <p:cNvSpPr txBox="1"/>
          <p:nvPr/>
        </p:nvSpPr>
        <p:spPr>
          <a:xfrm>
            <a:off x="841248" y="5193792"/>
            <a:ext cx="1046988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69" b="0">
                <a:solidFill>
                  <a:srgbClr val="EBF5FA"/>
                </a:solidFill>
                <a:latin typeface="Aptos"/>
              </a:rPr>
              <a:t>The proposed system uses spatial data structures and algorithms to reduce unnecessary searches, support nearest-neighbor and range queries, and provide efficient collision and restricted-zone detection.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0CE0311-F62C-820D-96BE-7B51A532CE36}"/>
              </a:ext>
            </a:extLst>
          </p:cNvPr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75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9D0E9A-C920-2EFC-2CAF-565631805754}"/>
              </a:ext>
            </a:extLst>
          </p:cNvPr>
          <p:cNvSpPr txBox="1"/>
          <p:nvPr/>
        </p:nvSpPr>
        <p:spPr>
          <a:xfrm>
            <a:off x="10058400" y="6473952"/>
            <a:ext cx="14630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750" b="1">
                <a:solidFill>
                  <a:srgbClr val="32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499FDBCB-3EAF-ACB3-FACA-D44BFF0AAE55}"/>
              </a:ext>
            </a:extLst>
          </p:cNvPr>
          <p:cNvSpPr txBox="1"/>
          <p:nvPr/>
        </p:nvSpPr>
        <p:spPr>
          <a:xfrm>
            <a:off x="594360" y="274320"/>
            <a:ext cx="777240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EBF5FA"/>
                </a:solidFill>
                <a:latin typeface="Aptos"/>
              </a:rPr>
              <a:t>Existing System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44A0DAF-FE0A-D483-4ABA-E8F07A752F78}"/>
              </a:ext>
            </a:extLst>
          </p:cNvPr>
          <p:cNvSpPr txBox="1"/>
          <p:nvPr/>
        </p:nvSpPr>
        <p:spPr>
          <a:xfrm>
            <a:off x="594360" y="722376"/>
            <a:ext cx="9601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9BB4C3"/>
                </a:solidFill>
                <a:latin typeface="Aptos"/>
              </a:rPr>
              <a:t>Current method used to handle drone tracking and collision monitoring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57DBE85-B8FD-F43B-0189-B90FADE5532E}"/>
              </a:ext>
            </a:extLst>
          </p:cNvPr>
          <p:cNvSpPr txBox="1"/>
          <p:nvPr/>
        </p:nvSpPr>
        <p:spPr>
          <a:xfrm>
            <a:off x="10972800" y="384048"/>
            <a:ext cx="6400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>
                <a:solidFill>
                  <a:srgbClr val="32D2DC"/>
                </a:solidFill>
                <a:latin typeface="Aptos"/>
              </a:rPr>
              <a:t>03</a:t>
            </a:r>
          </a:p>
        </p:txBody>
      </p:sp>
      <p:sp>
        <p:nvSpPr>
          <p:cNvPr id="150" name="Rounded Rectangle 4">
            <a:extLst>
              <a:ext uri="{FF2B5EF4-FFF2-40B4-BE49-F238E27FC236}">
                <a16:creationId xmlns:a16="http://schemas.microsoft.com/office/drawing/2014/main" id="{016F8075-7267-80D9-7E86-4BADCFD17BEA}"/>
              </a:ext>
            </a:extLst>
          </p:cNvPr>
          <p:cNvSpPr/>
          <p:nvPr/>
        </p:nvSpPr>
        <p:spPr>
          <a:xfrm>
            <a:off x="594360" y="1261872"/>
            <a:ext cx="5303520" cy="137160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E91372F-762E-958B-3415-7514C1282C68}"/>
              </a:ext>
            </a:extLst>
          </p:cNvPr>
          <p:cNvSpPr/>
          <p:nvPr/>
        </p:nvSpPr>
        <p:spPr>
          <a:xfrm>
            <a:off x="758952" y="1426463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0050121-7DDE-AFBA-3755-BA979C70206C}"/>
              </a:ext>
            </a:extLst>
          </p:cNvPr>
          <p:cNvSpPr txBox="1"/>
          <p:nvPr/>
        </p:nvSpPr>
        <p:spPr>
          <a:xfrm>
            <a:off x="758952" y="1504188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1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B69E4BA-A2DB-1014-4228-C27DFBB2A94D}"/>
              </a:ext>
            </a:extLst>
          </p:cNvPr>
          <p:cNvSpPr txBox="1"/>
          <p:nvPr/>
        </p:nvSpPr>
        <p:spPr>
          <a:xfrm>
            <a:off x="1252728" y="1408175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EXISTING APPROACH / SYSTEM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9D94663-2819-F01F-0A7E-EF5C78520DFD}"/>
              </a:ext>
            </a:extLst>
          </p:cNvPr>
          <p:cNvSpPr txBox="1"/>
          <p:nvPr/>
        </p:nvSpPr>
        <p:spPr>
          <a:xfrm>
            <a:off x="795528" y="1856231"/>
            <a:ext cx="4901183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dirty="0">
                <a:solidFill>
                  <a:srgbClr val="EBF5FA"/>
                </a:solidFill>
                <a:latin typeface="Aptos"/>
              </a:rPr>
              <a:t>The existing approach stores drone records and checks drone proximity through broad scanning. Potentially interacting drones are evaluated using distance calculations.</a:t>
            </a:r>
          </a:p>
        </p:txBody>
      </p:sp>
      <p:sp>
        <p:nvSpPr>
          <p:cNvPr id="160" name="Rounded Rectangle 9">
            <a:extLst>
              <a:ext uri="{FF2B5EF4-FFF2-40B4-BE49-F238E27FC236}">
                <a16:creationId xmlns:a16="http://schemas.microsoft.com/office/drawing/2014/main" id="{18FAA6B7-2AA5-EE0B-EBD1-CDEE1D6C0B3D}"/>
              </a:ext>
            </a:extLst>
          </p:cNvPr>
          <p:cNvSpPr/>
          <p:nvPr/>
        </p:nvSpPr>
        <p:spPr>
          <a:xfrm>
            <a:off x="6126480" y="1261872"/>
            <a:ext cx="5440680" cy="137160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E8CC92C-0E17-8CE2-285B-6F74AEEF2BDE}"/>
              </a:ext>
            </a:extLst>
          </p:cNvPr>
          <p:cNvSpPr/>
          <p:nvPr/>
        </p:nvSpPr>
        <p:spPr>
          <a:xfrm>
            <a:off x="6291072" y="1426463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D4EAE8E-74B1-C4F3-8CFF-C219C78B30F1}"/>
              </a:ext>
            </a:extLst>
          </p:cNvPr>
          <p:cNvSpPr txBox="1"/>
          <p:nvPr/>
        </p:nvSpPr>
        <p:spPr>
          <a:xfrm>
            <a:off x="6291072" y="1504188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81136B0-9679-253A-43D1-81922A80BA38}"/>
              </a:ext>
            </a:extLst>
          </p:cNvPr>
          <p:cNvSpPr txBox="1"/>
          <p:nvPr/>
        </p:nvSpPr>
        <p:spPr>
          <a:xfrm>
            <a:off x="6784848" y="1408175"/>
            <a:ext cx="4617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CURRENT METHOD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2BD18DC-2947-D56E-2377-84B62C2B3B0E}"/>
              </a:ext>
            </a:extLst>
          </p:cNvPr>
          <p:cNvSpPr txBox="1"/>
          <p:nvPr/>
        </p:nvSpPr>
        <p:spPr>
          <a:xfrm>
            <a:off x="6327648" y="1856231"/>
            <a:ext cx="5038344" cy="62170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dirty="0">
                <a:solidFill>
                  <a:schemeClr val="bg1"/>
                </a:solidFill>
                <a:latin typeface="Aptos"/>
              </a:rPr>
              <a:t>1. Store drone information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2. Examine candidate drone pairs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3. Calculate 3D Euclidean distance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4. Raise an alert when the collision threshold is reached</a:t>
            </a:r>
          </a:p>
        </p:txBody>
      </p:sp>
      <p:sp>
        <p:nvSpPr>
          <p:cNvPr id="170" name="Rounded Rectangle 14">
            <a:extLst>
              <a:ext uri="{FF2B5EF4-FFF2-40B4-BE49-F238E27FC236}">
                <a16:creationId xmlns:a16="http://schemas.microsoft.com/office/drawing/2014/main" id="{E6817FD2-BBA3-17FA-EF17-1865DF3A272D}"/>
              </a:ext>
            </a:extLst>
          </p:cNvPr>
          <p:cNvSpPr/>
          <p:nvPr/>
        </p:nvSpPr>
        <p:spPr>
          <a:xfrm>
            <a:off x="594360" y="2907792"/>
            <a:ext cx="5303520" cy="137160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050E706-69C9-56A9-84FD-1A0FE2183E87}"/>
              </a:ext>
            </a:extLst>
          </p:cNvPr>
          <p:cNvSpPr/>
          <p:nvPr/>
        </p:nvSpPr>
        <p:spPr>
          <a:xfrm>
            <a:off x="758952" y="3072384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9C0CEB-2E13-4A78-0055-824287F6D101}"/>
              </a:ext>
            </a:extLst>
          </p:cNvPr>
          <p:cNvSpPr txBox="1"/>
          <p:nvPr/>
        </p:nvSpPr>
        <p:spPr>
          <a:xfrm>
            <a:off x="758952" y="3150108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C380FA2-438E-B32D-122A-5287721877BC}"/>
              </a:ext>
            </a:extLst>
          </p:cNvPr>
          <p:cNvSpPr txBox="1"/>
          <p:nvPr/>
        </p:nvSpPr>
        <p:spPr>
          <a:xfrm>
            <a:off x="1252728" y="3054096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EXISTING TECHNOLOGIES / TECHNIQUES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6C2342A-F7A1-6076-CD01-5E6A7AB8FADB}"/>
              </a:ext>
            </a:extLst>
          </p:cNvPr>
          <p:cNvSpPr txBox="1"/>
          <p:nvPr/>
        </p:nvSpPr>
        <p:spPr>
          <a:xfrm>
            <a:off x="795528" y="3502152"/>
            <a:ext cx="4901183" cy="62170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dirty="0">
                <a:solidFill>
                  <a:schemeClr val="bg1"/>
                </a:solidFill>
                <a:latin typeface="Aptos"/>
              </a:rPr>
              <a:t>• General-purpose data collection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• 3D Euclidean distance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• Pairwise / broad scanning</a:t>
            </a:r>
            <a:br>
              <a:rPr sz="950" dirty="0">
                <a:solidFill>
                  <a:schemeClr val="bg1"/>
                </a:solidFill>
              </a:rPr>
            </a:br>
            <a:r>
              <a:rPr sz="950" dirty="0">
                <a:solidFill>
                  <a:schemeClr val="bg1"/>
                </a:solidFill>
              </a:rPr>
              <a:t>• Distance-threshold collision detection</a:t>
            </a:r>
          </a:p>
        </p:txBody>
      </p:sp>
      <p:sp>
        <p:nvSpPr>
          <p:cNvPr id="180" name="Rounded Rectangle 19">
            <a:extLst>
              <a:ext uri="{FF2B5EF4-FFF2-40B4-BE49-F238E27FC236}">
                <a16:creationId xmlns:a16="http://schemas.microsoft.com/office/drawing/2014/main" id="{ED9D856E-B476-96DE-98AC-E17CC661143F}"/>
              </a:ext>
            </a:extLst>
          </p:cNvPr>
          <p:cNvSpPr/>
          <p:nvPr/>
        </p:nvSpPr>
        <p:spPr>
          <a:xfrm>
            <a:off x="6126480" y="2907792"/>
            <a:ext cx="5440680" cy="1371600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EE62769-BDFA-5ED4-3BD9-633BFA9C3999}"/>
              </a:ext>
            </a:extLst>
          </p:cNvPr>
          <p:cNvSpPr/>
          <p:nvPr/>
        </p:nvSpPr>
        <p:spPr>
          <a:xfrm>
            <a:off x="6291072" y="3072384"/>
            <a:ext cx="365760" cy="365760"/>
          </a:xfrm>
          <a:prstGeom prst="ellipse">
            <a:avLst/>
          </a:prstGeom>
          <a:solidFill>
            <a:srgbClr val="32D2DC"/>
          </a:solidFill>
          <a:ln>
            <a:solidFill>
              <a:srgbClr val="3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17ACFAD-915D-D882-E774-363EF85B6A94}"/>
              </a:ext>
            </a:extLst>
          </p:cNvPr>
          <p:cNvSpPr txBox="1"/>
          <p:nvPr/>
        </p:nvSpPr>
        <p:spPr>
          <a:xfrm>
            <a:off x="6291072" y="3150108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4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03D6543-EDD7-BAB2-E162-54DF86D38C51}"/>
              </a:ext>
            </a:extLst>
          </p:cNvPr>
          <p:cNvSpPr txBox="1"/>
          <p:nvPr/>
        </p:nvSpPr>
        <p:spPr>
          <a:xfrm>
            <a:off x="6784848" y="3054096"/>
            <a:ext cx="4617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32D2DC"/>
                </a:solidFill>
                <a:latin typeface="Aptos"/>
              </a:rPr>
              <a:t>CURRENT DATA PROCESSING / MANAGEMENT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2B53166-53DE-34F7-C5DC-ABC6BECD5C30}"/>
              </a:ext>
            </a:extLst>
          </p:cNvPr>
          <p:cNvSpPr txBox="1"/>
          <p:nvPr/>
        </p:nvSpPr>
        <p:spPr>
          <a:xfrm>
            <a:off x="6327648" y="3502152"/>
            <a:ext cx="5038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EBF5FA"/>
                </a:solidFill>
                <a:latin typeface="Aptos"/>
              </a:rPr>
              <a:t>Drone data is maintained as individual records and processed through repeated proximity checks. The approach does not use a spatial index to organize nearby locations before searching.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765A888-1892-87BA-B303-056E314364D4}"/>
              </a:ext>
            </a:extLst>
          </p:cNvPr>
          <p:cNvSpPr txBox="1"/>
          <p:nvPr/>
        </p:nvSpPr>
        <p:spPr>
          <a:xfrm>
            <a:off x="594360" y="4663440"/>
            <a:ext cx="2286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>
                <a:solidFill>
                  <a:srgbClr val="FFAA46"/>
                </a:solidFill>
                <a:latin typeface="Aptos"/>
              </a:rPr>
              <a:t>CURRENT WORKFLOW</a:t>
            </a:r>
          </a:p>
        </p:txBody>
      </p:sp>
      <p:sp>
        <p:nvSpPr>
          <p:cNvPr id="192" name="Rounded Rectangle 25">
            <a:extLst>
              <a:ext uri="{FF2B5EF4-FFF2-40B4-BE49-F238E27FC236}">
                <a16:creationId xmlns:a16="http://schemas.microsoft.com/office/drawing/2014/main" id="{5A1C3C6D-67A7-B681-C0BD-A614F2B45A54}"/>
              </a:ext>
            </a:extLst>
          </p:cNvPr>
          <p:cNvSpPr/>
          <p:nvPr/>
        </p:nvSpPr>
        <p:spPr>
          <a:xfrm>
            <a:off x="594360" y="5047488"/>
            <a:ext cx="1874519" cy="841248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C27B5EE-9C7F-4242-1A7F-EE850996F840}"/>
              </a:ext>
            </a:extLst>
          </p:cNvPr>
          <p:cNvSpPr txBox="1"/>
          <p:nvPr/>
        </p:nvSpPr>
        <p:spPr>
          <a:xfrm>
            <a:off x="685800" y="5193792"/>
            <a:ext cx="31089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32D2DC"/>
                </a:solidFill>
                <a:latin typeface="Aptos"/>
              </a:rPr>
              <a:t>01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506F865A-938B-98DC-9649-1D5B715073F1}"/>
              </a:ext>
            </a:extLst>
          </p:cNvPr>
          <p:cNvSpPr txBox="1"/>
          <p:nvPr/>
        </p:nvSpPr>
        <p:spPr>
          <a:xfrm>
            <a:off x="685800" y="5166360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30" b="1" dirty="0">
                <a:solidFill>
                  <a:srgbClr val="EBF5FA"/>
                </a:solidFill>
                <a:latin typeface="Aptos"/>
              </a:rPr>
              <a:t>DRONE DATA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13DE5D0-A40E-20C8-DE4C-1DF26D03C7B2}"/>
              </a:ext>
            </a:extLst>
          </p:cNvPr>
          <p:cNvSpPr txBox="1"/>
          <p:nvPr/>
        </p:nvSpPr>
        <p:spPr>
          <a:xfrm>
            <a:off x="758952" y="5431536"/>
            <a:ext cx="1536192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9BB4C3"/>
                </a:solidFill>
                <a:latin typeface="Aptos"/>
              </a:rPr>
              <a:t>Position + velocity</a:t>
            </a:r>
          </a:p>
        </p:txBody>
      </p:sp>
      <p:sp>
        <p:nvSpPr>
          <p:cNvPr id="200" name="Rounded Rectangle 29">
            <a:extLst>
              <a:ext uri="{FF2B5EF4-FFF2-40B4-BE49-F238E27FC236}">
                <a16:creationId xmlns:a16="http://schemas.microsoft.com/office/drawing/2014/main" id="{6F6DCA96-649A-B8C7-C25F-CB2B00CF98A2}"/>
              </a:ext>
            </a:extLst>
          </p:cNvPr>
          <p:cNvSpPr/>
          <p:nvPr/>
        </p:nvSpPr>
        <p:spPr>
          <a:xfrm>
            <a:off x="2798064" y="5047488"/>
            <a:ext cx="1874519" cy="841248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5215CE2-33A3-91A6-E392-39B82D71AFBD}"/>
              </a:ext>
            </a:extLst>
          </p:cNvPr>
          <p:cNvSpPr txBox="1"/>
          <p:nvPr/>
        </p:nvSpPr>
        <p:spPr>
          <a:xfrm>
            <a:off x="2926080" y="5193792"/>
            <a:ext cx="31089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32D2DC"/>
                </a:solidFill>
                <a:latin typeface="Aptos"/>
              </a:rPr>
              <a:t>02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641B72D-A17F-6AAC-BE59-6B0CF5E2CFD4}"/>
              </a:ext>
            </a:extLst>
          </p:cNvPr>
          <p:cNvSpPr txBox="1"/>
          <p:nvPr/>
        </p:nvSpPr>
        <p:spPr>
          <a:xfrm>
            <a:off x="2743199" y="5193792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30" b="1" dirty="0">
                <a:solidFill>
                  <a:srgbClr val="EBF5FA"/>
                </a:solidFill>
                <a:latin typeface="Aptos"/>
              </a:rPr>
              <a:t>SCAN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EB1A035-7AB8-AEAA-6419-8DC1BA4C6BE0}"/>
              </a:ext>
            </a:extLst>
          </p:cNvPr>
          <p:cNvSpPr txBox="1"/>
          <p:nvPr/>
        </p:nvSpPr>
        <p:spPr>
          <a:xfrm>
            <a:off x="2999232" y="5431536"/>
            <a:ext cx="1536192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9BB4C3"/>
                </a:solidFill>
                <a:latin typeface="Aptos"/>
              </a:rPr>
              <a:t>Candidate pairs</a:t>
            </a:r>
          </a:p>
        </p:txBody>
      </p:sp>
      <p:sp>
        <p:nvSpPr>
          <p:cNvPr id="208" name="Rounded Rectangle 33">
            <a:extLst>
              <a:ext uri="{FF2B5EF4-FFF2-40B4-BE49-F238E27FC236}">
                <a16:creationId xmlns:a16="http://schemas.microsoft.com/office/drawing/2014/main" id="{4E4675D3-7C56-8D2F-0F89-693C64DECB7A}"/>
              </a:ext>
            </a:extLst>
          </p:cNvPr>
          <p:cNvSpPr/>
          <p:nvPr/>
        </p:nvSpPr>
        <p:spPr>
          <a:xfrm>
            <a:off x="5074920" y="5047488"/>
            <a:ext cx="1874519" cy="841248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0D3450F-30BC-623D-C59D-36EAA991F0FB}"/>
              </a:ext>
            </a:extLst>
          </p:cNvPr>
          <p:cNvSpPr txBox="1"/>
          <p:nvPr/>
        </p:nvSpPr>
        <p:spPr>
          <a:xfrm>
            <a:off x="5166359" y="5193792"/>
            <a:ext cx="31089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32D2DC"/>
                </a:solidFill>
                <a:latin typeface="Aptos"/>
              </a:rPr>
              <a:t>03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610837B-F9B4-9FEE-675B-602D22421B87}"/>
              </a:ext>
            </a:extLst>
          </p:cNvPr>
          <p:cNvSpPr txBox="1"/>
          <p:nvPr/>
        </p:nvSpPr>
        <p:spPr>
          <a:xfrm>
            <a:off x="5074920" y="5190449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30" b="1">
                <a:solidFill>
                  <a:srgbClr val="EBF5FA"/>
                </a:solidFill>
                <a:latin typeface="Aptos"/>
              </a:rPr>
              <a:t>DISTANCE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6B45F97-EF0E-AD97-DA11-A79A1EB25C87}"/>
              </a:ext>
            </a:extLst>
          </p:cNvPr>
          <p:cNvSpPr txBox="1"/>
          <p:nvPr/>
        </p:nvSpPr>
        <p:spPr>
          <a:xfrm>
            <a:off x="5239512" y="5431536"/>
            <a:ext cx="1536192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9BB4C3"/>
                </a:solidFill>
                <a:latin typeface="Aptos"/>
              </a:rPr>
              <a:t>3D calculation</a:t>
            </a:r>
          </a:p>
        </p:txBody>
      </p:sp>
      <p:sp>
        <p:nvSpPr>
          <p:cNvPr id="216" name="Rounded Rectangle 37">
            <a:extLst>
              <a:ext uri="{FF2B5EF4-FFF2-40B4-BE49-F238E27FC236}">
                <a16:creationId xmlns:a16="http://schemas.microsoft.com/office/drawing/2014/main" id="{9B554CB0-6D84-6FE0-7450-8CB93048D43F}"/>
              </a:ext>
            </a:extLst>
          </p:cNvPr>
          <p:cNvSpPr/>
          <p:nvPr/>
        </p:nvSpPr>
        <p:spPr>
          <a:xfrm>
            <a:off x="7315200" y="5047488"/>
            <a:ext cx="1874519" cy="841248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D90CE12-975B-E295-799D-39E54CE14FAC}"/>
              </a:ext>
            </a:extLst>
          </p:cNvPr>
          <p:cNvSpPr txBox="1"/>
          <p:nvPr/>
        </p:nvSpPr>
        <p:spPr>
          <a:xfrm>
            <a:off x="7406640" y="5193792"/>
            <a:ext cx="31089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32D2DC"/>
                </a:solidFill>
                <a:latin typeface="Aptos"/>
              </a:rPr>
              <a:t>04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4289400-4548-6654-E24C-A2338AA69DBC}"/>
              </a:ext>
            </a:extLst>
          </p:cNvPr>
          <p:cNvSpPr txBox="1"/>
          <p:nvPr/>
        </p:nvSpPr>
        <p:spPr>
          <a:xfrm>
            <a:off x="7341157" y="5184648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30" b="1" dirty="0">
                <a:solidFill>
                  <a:srgbClr val="EBF5FA"/>
                </a:solidFill>
                <a:latin typeface="Aptos"/>
              </a:rPr>
              <a:t>DECISION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469531D-9125-836F-4079-D7326A0B62DA}"/>
              </a:ext>
            </a:extLst>
          </p:cNvPr>
          <p:cNvSpPr txBox="1"/>
          <p:nvPr/>
        </p:nvSpPr>
        <p:spPr>
          <a:xfrm>
            <a:off x="7479792" y="5431536"/>
            <a:ext cx="1536192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9BB4C3"/>
                </a:solidFill>
                <a:latin typeface="Aptos"/>
              </a:rPr>
              <a:t>Threshold check</a:t>
            </a:r>
          </a:p>
        </p:txBody>
      </p:sp>
      <p:sp>
        <p:nvSpPr>
          <p:cNvPr id="224" name="Rounded Rectangle 41">
            <a:extLst>
              <a:ext uri="{FF2B5EF4-FFF2-40B4-BE49-F238E27FC236}">
                <a16:creationId xmlns:a16="http://schemas.microsoft.com/office/drawing/2014/main" id="{A28235B1-F987-58D7-338E-FC11D725B453}"/>
              </a:ext>
            </a:extLst>
          </p:cNvPr>
          <p:cNvSpPr/>
          <p:nvPr/>
        </p:nvSpPr>
        <p:spPr>
          <a:xfrm>
            <a:off x="9462238" y="5157216"/>
            <a:ext cx="1874519" cy="841248"/>
          </a:xfrm>
          <a:prstGeom prst="roundRect">
            <a:avLst/>
          </a:prstGeom>
          <a:solidFill>
            <a:srgbClr val="0E1D2B"/>
          </a:solidFill>
          <a:ln>
            <a:solidFill>
              <a:srgbClr val="28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17BE040-B033-9A17-68E4-FA2065240FAD}"/>
              </a:ext>
            </a:extLst>
          </p:cNvPr>
          <p:cNvSpPr txBox="1"/>
          <p:nvPr/>
        </p:nvSpPr>
        <p:spPr>
          <a:xfrm>
            <a:off x="9646919" y="5193792"/>
            <a:ext cx="31089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32D2DC"/>
                </a:solidFill>
                <a:latin typeface="Aptos"/>
              </a:rPr>
              <a:t>05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6F04240-413D-077C-DA74-D6CA972D25B4}"/>
              </a:ext>
            </a:extLst>
          </p:cNvPr>
          <p:cNvSpPr txBox="1"/>
          <p:nvPr/>
        </p:nvSpPr>
        <p:spPr>
          <a:xfrm>
            <a:off x="9448801" y="5186319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30" b="1">
                <a:solidFill>
                  <a:srgbClr val="EBF5FA"/>
                </a:solidFill>
                <a:latin typeface="Aptos"/>
              </a:rPr>
              <a:t>ALERT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EF01E2D-6B2B-0FEE-F57E-488DEE4F0FDF}"/>
              </a:ext>
            </a:extLst>
          </p:cNvPr>
          <p:cNvSpPr txBox="1"/>
          <p:nvPr/>
        </p:nvSpPr>
        <p:spPr>
          <a:xfrm>
            <a:off x="9720072" y="5431536"/>
            <a:ext cx="1536192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9BB4C3"/>
                </a:solidFill>
                <a:latin typeface="Aptos"/>
              </a:rPr>
              <a:t>Collision risk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3BCBA8C-AC25-893F-8108-59F752AE3B2D}"/>
              </a:ext>
            </a:extLst>
          </p:cNvPr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48853D5-121B-2E07-CA59-32184E43D8FE}"/>
              </a:ext>
            </a:extLst>
          </p:cNvPr>
          <p:cNvSpPr txBox="1"/>
          <p:nvPr/>
        </p:nvSpPr>
        <p:spPr>
          <a:xfrm>
            <a:off x="10058400" y="6473952"/>
            <a:ext cx="1463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1">
                <a:solidFill>
                  <a:srgbClr val="32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947A2C9-B544-F53F-0433-29E504CF02B6}"/>
              </a:ext>
            </a:extLst>
          </p:cNvPr>
          <p:cNvSpPr txBox="1"/>
          <p:nvPr/>
        </p:nvSpPr>
        <p:spPr>
          <a:xfrm>
            <a:off x="594360" y="292608"/>
            <a:ext cx="86868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EBF5FA"/>
                </a:solidFill>
                <a:latin typeface="Aptos"/>
              </a:rPr>
              <a:t>Existing System Limitations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BF6973-32DF-F762-DCD7-0C1B1667DD82}"/>
              </a:ext>
            </a:extLst>
          </p:cNvPr>
          <p:cNvSpPr txBox="1"/>
          <p:nvPr/>
        </p:nvSpPr>
        <p:spPr>
          <a:xfrm>
            <a:off x="594360" y="73152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50" b="0">
                <a:solidFill>
                  <a:srgbClr val="9BB4C3"/>
                </a:solidFill>
                <a:latin typeface="Aptos"/>
              </a:rPr>
              <a:t>Why broad scanning becomes inefficient as the drone population grows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F4C5AC-FBB2-8298-5C83-4A363CC4D895}"/>
              </a:ext>
            </a:extLst>
          </p:cNvPr>
          <p:cNvSpPr txBox="1"/>
          <p:nvPr/>
        </p:nvSpPr>
        <p:spPr>
          <a:xfrm>
            <a:off x="10972800" y="384048"/>
            <a:ext cx="6400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>
                <a:solidFill>
                  <a:srgbClr val="30D2DC"/>
                </a:solidFill>
                <a:latin typeface="Aptos"/>
              </a:rPr>
              <a:t>04</a:t>
            </a:r>
          </a:p>
        </p:txBody>
      </p:sp>
      <p:sp>
        <p:nvSpPr>
          <p:cNvPr id="41" name="Rounded Rectangle 4">
            <a:extLst>
              <a:ext uri="{FF2B5EF4-FFF2-40B4-BE49-F238E27FC236}">
                <a16:creationId xmlns:a16="http://schemas.microsoft.com/office/drawing/2014/main" id="{E2F698AD-9658-26D6-6D05-0AA70FBA4E20}"/>
              </a:ext>
            </a:extLst>
          </p:cNvPr>
          <p:cNvSpPr/>
          <p:nvPr/>
        </p:nvSpPr>
        <p:spPr>
          <a:xfrm>
            <a:off x="594360" y="1170432"/>
            <a:ext cx="10972800" cy="548640"/>
          </a:xfrm>
          <a:prstGeom prst="roundRect">
            <a:avLst/>
          </a:prstGeom>
          <a:solidFill>
            <a:srgbClr val="122A36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8ACEC4-4A87-8AAD-853C-22B9E3151423}"/>
              </a:ext>
            </a:extLst>
          </p:cNvPr>
          <p:cNvSpPr txBox="1"/>
          <p:nvPr/>
        </p:nvSpPr>
        <p:spPr>
          <a:xfrm>
            <a:off x="777240" y="1307592"/>
            <a:ext cx="1060704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50" b="1">
                <a:solidFill>
                  <a:srgbClr val="FFAA46"/>
                </a:solidFill>
                <a:latin typeface="Aptos"/>
              </a:rPr>
              <a:t>Existing approach: general-purpose storage + broad scanning + direct distance checks</a:t>
            </a:r>
          </a:p>
        </p:txBody>
      </p:sp>
      <p:sp>
        <p:nvSpPr>
          <p:cNvPr id="45" name="Rounded Rectangle 6">
            <a:extLst>
              <a:ext uri="{FF2B5EF4-FFF2-40B4-BE49-F238E27FC236}">
                <a16:creationId xmlns:a16="http://schemas.microsoft.com/office/drawing/2014/main" id="{7A0D10EF-10E3-861C-CE1B-D88F168480A2}"/>
              </a:ext>
            </a:extLst>
          </p:cNvPr>
          <p:cNvSpPr/>
          <p:nvPr/>
        </p:nvSpPr>
        <p:spPr>
          <a:xfrm>
            <a:off x="594360" y="1920240"/>
            <a:ext cx="3520440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5CA46B6-67E6-54FB-C36C-E5B9C603C223}"/>
              </a:ext>
            </a:extLst>
          </p:cNvPr>
          <p:cNvSpPr/>
          <p:nvPr/>
        </p:nvSpPr>
        <p:spPr>
          <a:xfrm>
            <a:off x="740664" y="20574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9C36B1-12DB-5DAB-9BAD-E71BD9788717}"/>
              </a:ext>
            </a:extLst>
          </p:cNvPr>
          <p:cNvSpPr txBox="1"/>
          <p:nvPr/>
        </p:nvSpPr>
        <p:spPr>
          <a:xfrm>
            <a:off x="740664" y="21076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5D9240-7EE3-0159-DDD4-527A37413434}"/>
              </a:ext>
            </a:extLst>
          </p:cNvPr>
          <p:cNvSpPr txBox="1"/>
          <p:nvPr/>
        </p:nvSpPr>
        <p:spPr>
          <a:xfrm>
            <a:off x="1216152" y="2039112"/>
            <a:ext cx="27432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TIME INEFFICIENCY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4B9F62-FEB0-4909-288A-A4EBCE67A1B1}"/>
              </a:ext>
            </a:extLst>
          </p:cNvPr>
          <p:cNvSpPr txBox="1"/>
          <p:nvPr/>
        </p:nvSpPr>
        <p:spPr>
          <a:xfrm>
            <a:off x="758952" y="2441448"/>
            <a:ext cx="3191256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Pairwise collision checks can examine O(n²) drone pairs, so processing grows rapidly with fleet size.</a:t>
            </a:r>
          </a:p>
        </p:txBody>
      </p:sp>
      <p:sp>
        <p:nvSpPr>
          <p:cNvPr id="55" name="Rounded Rectangle 11">
            <a:extLst>
              <a:ext uri="{FF2B5EF4-FFF2-40B4-BE49-F238E27FC236}">
                <a16:creationId xmlns:a16="http://schemas.microsoft.com/office/drawing/2014/main" id="{7755C020-E6D2-3A76-89D0-368623016591}"/>
              </a:ext>
            </a:extLst>
          </p:cNvPr>
          <p:cNvSpPr/>
          <p:nvPr/>
        </p:nvSpPr>
        <p:spPr>
          <a:xfrm>
            <a:off x="4279392" y="1920240"/>
            <a:ext cx="3520440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31B6E03-3C2E-76AB-1EDF-8182F95718CA}"/>
              </a:ext>
            </a:extLst>
          </p:cNvPr>
          <p:cNvSpPr/>
          <p:nvPr/>
        </p:nvSpPr>
        <p:spPr>
          <a:xfrm>
            <a:off x="4425696" y="20574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C8C40E-2108-D60F-3626-31A83CB070AF}"/>
              </a:ext>
            </a:extLst>
          </p:cNvPr>
          <p:cNvSpPr txBox="1"/>
          <p:nvPr/>
        </p:nvSpPr>
        <p:spPr>
          <a:xfrm>
            <a:off x="4425696" y="21076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227F42-0772-1AE2-0F7B-12A83CAA8892}"/>
              </a:ext>
            </a:extLst>
          </p:cNvPr>
          <p:cNvSpPr txBox="1"/>
          <p:nvPr/>
        </p:nvSpPr>
        <p:spPr>
          <a:xfrm>
            <a:off x="4901183" y="2039112"/>
            <a:ext cx="27432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SPACE REQUIREMENTS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41DFD4-B103-1F61-6498-3DCC10F042AF}"/>
              </a:ext>
            </a:extLst>
          </p:cNvPr>
          <p:cNvSpPr txBox="1"/>
          <p:nvPr/>
        </p:nvSpPr>
        <p:spPr>
          <a:xfrm>
            <a:off x="4443983" y="2441448"/>
            <a:ext cx="3191256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Storing drone records is O(n). A broad-scan approach does not provide a spatial index to organize nearby points.</a:t>
            </a:r>
          </a:p>
        </p:txBody>
      </p:sp>
      <p:sp>
        <p:nvSpPr>
          <p:cNvPr id="65" name="Rounded Rectangle 16">
            <a:extLst>
              <a:ext uri="{FF2B5EF4-FFF2-40B4-BE49-F238E27FC236}">
                <a16:creationId xmlns:a16="http://schemas.microsoft.com/office/drawing/2014/main" id="{E310D7A5-AC30-0B12-8DFB-306E9C8CAE19}"/>
              </a:ext>
            </a:extLst>
          </p:cNvPr>
          <p:cNvSpPr/>
          <p:nvPr/>
        </p:nvSpPr>
        <p:spPr>
          <a:xfrm>
            <a:off x="7964424" y="1920240"/>
            <a:ext cx="3602736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462C1A2-D6A2-0470-3FCE-AEDE8879DBBF}"/>
              </a:ext>
            </a:extLst>
          </p:cNvPr>
          <p:cNvSpPr/>
          <p:nvPr/>
        </p:nvSpPr>
        <p:spPr>
          <a:xfrm>
            <a:off x="8110728" y="20574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151AB6-50F8-E463-8471-EDAB3F5FDA61}"/>
              </a:ext>
            </a:extLst>
          </p:cNvPr>
          <p:cNvSpPr txBox="1"/>
          <p:nvPr/>
        </p:nvSpPr>
        <p:spPr>
          <a:xfrm>
            <a:off x="8110728" y="21076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F070F1-A3A9-61B0-FBB5-F11342A285B2}"/>
              </a:ext>
            </a:extLst>
          </p:cNvPr>
          <p:cNvSpPr txBox="1"/>
          <p:nvPr/>
        </p:nvSpPr>
        <p:spPr>
          <a:xfrm>
            <a:off x="8586216" y="2039112"/>
            <a:ext cx="282549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SEARCH / RETRIEVAL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1D02E4-4E52-FF1F-BE4E-185BE23EEAF2}"/>
              </a:ext>
            </a:extLst>
          </p:cNvPr>
          <p:cNvSpPr txBox="1"/>
          <p:nvPr/>
        </p:nvSpPr>
        <p:spPr>
          <a:xfrm>
            <a:off x="8129016" y="2441448"/>
            <a:ext cx="3273552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Without spatial indexing, irrelevant drones are still examined. There is no efficient spatial pruning.</a:t>
            </a:r>
          </a:p>
        </p:txBody>
      </p:sp>
      <p:sp>
        <p:nvSpPr>
          <p:cNvPr id="75" name="Rounded Rectangle 21">
            <a:extLst>
              <a:ext uri="{FF2B5EF4-FFF2-40B4-BE49-F238E27FC236}">
                <a16:creationId xmlns:a16="http://schemas.microsoft.com/office/drawing/2014/main" id="{0FB06F8E-8F81-695B-BE30-3A04F447C6DA}"/>
              </a:ext>
            </a:extLst>
          </p:cNvPr>
          <p:cNvSpPr/>
          <p:nvPr/>
        </p:nvSpPr>
        <p:spPr>
          <a:xfrm>
            <a:off x="594360" y="3291840"/>
            <a:ext cx="3520440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244A684-6007-AA7F-696F-AE6624EDA02C}"/>
              </a:ext>
            </a:extLst>
          </p:cNvPr>
          <p:cNvSpPr/>
          <p:nvPr/>
        </p:nvSpPr>
        <p:spPr>
          <a:xfrm>
            <a:off x="740664" y="34290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FBCDAD-517F-733B-5B63-D34496D996E6}"/>
              </a:ext>
            </a:extLst>
          </p:cNvPr>
          <p:cNvSpPr txBox="1"/>
          <p:nvPr/>
        </p:nvSpPr>
        <p:spPr>
          <a:xfrm>
            <a:off x="740664" y="34792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A198D8-F7E1-42DD-A22A-A8E527D9D55A}"/>
              </a:ext>
            </a:extLst>
          </p:cNvPr>
          <p:cNvSpPr txBox="1"/>
          <p:nvPr/>
        </p:nvSpPr>
        <p:spPr>
          <a:xfrm>
            <a:off x="1216152" y="3410712"/>
            <a:ext cx="27432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SCALABILITY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837FEC-745C-964B-46FD-793E2FC60683}"/>
              </a:ext>
            </a:extLst>
          </p:cNvPr>
          <p:cNvSpPr txBox="1"/>
          <p:nvPr/>
        </p:nvSpPr>
        <p:spPr>
          <a:xfrm>
            <a:off x="758952" y="3813048"/>
            <a:ext cx="3191256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As more drones enter the airspace, the number of comparisons and processing load increases, reducing scalability.</a:t>
            </a:r>
          </a:p>
        </p:txBody>
      </p:sp>
      <p:sp>
        <p:nvSpPr>
          <p:cNvPr id="85" name="Rounded Rectangle 26">
            <a:extLst>
              <a:ext uri="{FF2B5EF4-FFF2-40B4-BE49-F238E27FC236}">
                <a16:creationId xmlns:a16="http://schemas.microsoft.com/office/drawing/2014/main" id="{96D4CDD0-450B-1373-B82F-FC35C8237E45}"/>
              </a:ext>
            </a:extLst>
          </p:cNvPr>
          <p:cNvSpPr/>
          <p:nvPr/>
        </p:nvSpPr>
        <p:spPr>
          <a:xfrm>
            <a:off x="4279392" y="3291840"/>
            <a:ext cx="3520440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E6210DC-7E7F-F78F-1C65-8CFBAE6F9F2F}"/>
              </a:ext>
            </a:extLst>
          </p:cNvPr>
          <p:cNvSpPr/>
          <p:nvPr/>
        </p:nvSpPr>
        <p:spPr>
          <a:xfrm>
            <a:off x="4425696" y="34290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1048B9F-5D35-4C4E-850E-7C4FD97BAA07}"/>
              </a:ext>
            </a:extLst>
          </p:cNvPr>
          <p:cNvSpPr txBox="1"/>
          <p:nvPr/>
        </p:nvSpPr>
        <p:spPr>
          <a:xfrm>
            <a:off x="4425696" y="34792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D1B4DFA-B108-7B8D-E790-782F6E85F93E}"/>
              </a:ext>
            </a:extLst>
          </p:cNvPr>
          <p:cNvSpPr txBox="1"/>
          <p:nvPr/>
        </p:nvSpPr>
        <p:spPr>
          <a:xfrm>
            <a:off x="4901183" y="3410712"/>
            <a:ext cx="27432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INSERT / DELETE / UPDATE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091A517-79C7-D6DD-DDE3-2E09EFF81FFA}"/>
              </a:ext>
            </a:extLst>
          </p:cNvPr>
          <p:cNvSpPr txBox="1"/>
          <p:nvPr/>
        </p:nvSpPr>
        <p:spPr>
          <a:xfrm>
            <a:off x="4443983" y="3813048"/>
            <a:ext cx="3191256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Frequent movement changes spatial relationships. Repeated updates make broad scans costly when the fleet changes continuously.</a:t>
            </a:r>
          </a:p>
        </p:txBody>
      </p:sp>
      <p:sp>
        <p:nvSpPr>
          <p:cNvPr id="95" name="Rounded Rectangle 31">
            <a:extLst>
              <a:ext uri="{FF2B5EF4-FFF2-40B4-BE49-F238E27FC236}">
                <a16:creationId xmlns:a16="http://schemas.microsoft.com/office/drawing/2014/main" id="{3058D6AD-B86E-DF81-9F08-5F57BC56E182}"/>
              </a:ext>
            </a:extLst>
          </p:cNvPr>
          <p:cNvSpPr/>
          <p:nvPr/>
        </p:nvSpPr>
        <p:spPr>
          <a:xfrm>
            <a:off x="7964424" y="3291840"/>
            <a:ext cx="3602736" cy="11430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8F34115-E66B-C6E1-CA3D-1336FFFBD2B3}"/>
              </a:ext>
            </a:extLst>
          </p:cNvPr>
          <p:cNvSpPr/>
          <p:nvPr/>
        </p:nvSpPr>
        <p:spPr>
          <a:xfrm>
            <a:off x="8110728" y="3429000"/>
            <a:ext cx="347472" cy="347472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6BC78DC-0A6F-68FD-4ADC-015EFB276B74}"/>
              </a:ext>
            </a:extLst>
          </p:cNvPr>
          <p:cNvSpPr txBox="1"/>
          <p:nvPr/>
        </p:nvSpPr>
        <p:spPr>
          <a:xfrm>
            <a:off x="8110728" y="3479292"/>
            <a:ext cx="347472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8F35C1-A7F1-967F-AACE-0DFE090C0CD8}"/>
              </a:ext>
            </a:extLst>
          </p:cNvPr>
          <p:cNvSpPr txBox="1"/>
          <p:nvPr/>
        </p:nvSpPr>
        <p:spPr>
          <a:xfrm>
            <a:off x="8586216" y="3410712"/>
            <a:ext cx="282549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REAL-TIME PROCESSING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674E995-9564-B61B-CFE1-48D99F38150E}"/>
              </a:ext>
            </a:extLst>
          </p:cNvPr>
          <p:cNvSpPr txBox="1"/>
          <p:nvPr/>
        </p:nvSpPr>
        <p:spPr>
          <a:xfrm>
            <a:off x="8129016" y="3813048"/>
            <a:ext cx="3273552" cy="5394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90" b="0">
                <a:solidFill>
                  <a:srgbClr val="EBF5FA"/>
                </a:solidFill>
                <a:latin typeface="Aptos"/>
              </a:rPr>
              <a:t>Repeated full scans can increase latency and make timely collision alerts harder as the fleet becomes larger.</a:t>
            </a:r>
          </a:p>
        </p:txBody>
      </p:sp>
      <p:sp>
        <p:nvSpPr>
          <p:cNvPr id="105" name="Rounded Rectangle 36">
            <a:extLst>
              <a:ext uri="{FF2B5EF4-FFF2-40B4-BE49-F238E27FC236}">
                <a16:creationId xmlns:a16="http://schemas.microsoft.com/office/drawing/2014/main" id="{414E68DB-79B6-E302-D41B-167E973CBCAF}"/>
              </a:ext>
            </a:extLst>
          </p:cNvPr>
          <p:cNvSpPr/>
          <p:nvPr/>
        </p:nvSpPr>
        <p:spPr>
          <a:xfrm>
            <a:off x="740664" y="4709160"/>
            <a:ext cx="10826496" cy="65836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27F17B-D2A7-9402-E31C-4EE0AC114972}"/>
              </a:ext>
            </a:extLst>
          </p:cNvPr>
          <p:cNvSpPr txBox="1"/>
          <p:nvPr/>
        </p:nvSpPr>
        <p:spPr>
          <a:xfrm>
            <a:off x="804672" y="4864608"/>
            <a:ext cx="219456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FFAA46"/>
                </a:solidFill>
                <a:latin typeface="Aptos"/>
              </a:rPr>
              <a:t>CORE LIMITATION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F9F9055-5594-42CD-48F7-CC439138F9DA}"/>
              </a:ext>
            </a:extLst>
          </p:cNvPr>
          <p:cNvSpPr txBox="1"/>
          <p:nvPr/>
        </p:nvSpPr>
        <p:spPr>
          <a:xfrm>
            <a:off x="2064774" y="4818888"/>
            <a:ext cx="9136626" cy="3600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dirty="0">
                <a:solidFill>
                  <a:srgbClr val="EBF5FA"/>
                </a:solidFill>
                <a:latin typeface="Aptos"/>
              </a:rPr>
              <a:t>The existing approach checks too many non-relevant drones. A spatially aware design is required to reduce unnecessary comparisons while supporting dynamic monitoring.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5A1F52-A317-B285-53EB-C47B4FE03021}"/>
              </a:ext>
            </a:extLst>
          </p:cNvPr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4D31600-EA57-57BF-C058-56EC1A65A691}"/>
              </a:ext>
            </a:extLst>
          </p:cNvPr>
          <p:cNvSpPr txBox="1"/>
          <p:nvPr/>
        </p:nvSpPr>
        <p:spPr>
          <a:xfrm>
            <a:off x="10058400" y="6473952"/>
            <a:ext cx="14630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750" b="1">
                <a:solidFill>
                  <a:srgbClr val="30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86868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EBF5F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1">
                <a:solidFill>
                  <a:srgbClr val="30D2DC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123444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53312"/>
            <a:ext cx="1064361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30D2DC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10643616" cy="6675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30" b="0" dirty="0">
                <a:solidFill>
                  <a:srgbClr val="EBF5FA"/>
                </a:solidFill>
                <a:latin typeface="Aptos"/>
              </a:rPr>
              <a:t>Drone fleets move continuously through 3D airspace. The system must detect nearby-drone collisions and no-fly-zone violations while supporting fast spatial queries as the number of drones increases.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24912"/>
            <a:ext cx="5303520" cy="132588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843784"/>
            <a:ext cx="497433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FAA46"/>
                </a:solidFill>
                <a:latin typeface="Aptos"/>
              </a:rPr>
              <a:t>COMPUTATIONAL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4974336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80" b="0">
                <a:solidFill>
                  <a:srgbClr val="EBF5FA"/>
                </a:solidFill>
                <a:latin typeface="Aptos"/>
              </a:rPr>
              <a:t>A naïve system checks many drone pairs, giving O(n²) collision-check growth. The challenge is to reduce unnecessary spatial comparisons using appropriate data structures.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24912"/>
            <a:ext cx="5394960" cy="132588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843784"/>
            <a:ext cx="506577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30D2DC"/>
                </a:solidFill>
                <a:latin typeface="Aptos"/>
              </a:rPr>
              <a:t>EXPECTED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200400"/>
            <a:ext cx="5065776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80" b="0">
                <a:solidFill>
                  <a:srgbClr val="EBF5FA"/>
                </a:solidFill>
                <a:latin typeface="Aptos"/>
              </a:rPr>
              <a:t>A functional monitoring prototype that updates drone trajectories, finds nearby drones, performs 2D range queries, detects collisions, and flags restricted-airspace violations.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AA46"/>
                </a:solidFill>
                <a:latin typeface="Aptos"/>
              </a:rPr>
              <a:t>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36592"/>
            <a:ext cx="1965960" cy="11887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2376" y="4864607"/>
            <a:ext cx="329184" cy="329184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4924044"/>
            <a:ext cx="32918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554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1">
                <a:solidFill>
                  <a:srgbClr val="30D2DC"/>
                </a:solidFill>
                <a:latin typeface="Aptos"/>
              </a:rPr>
              <a:t>Dynamic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239512"/>
            <a:ext cx="1673352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>
                <a:solidFill>
                  <a:srgbClr val="EBF5FA"/>
                </a:solidFill>
                <a:latin typeface="Aptos"/>
              </a:rPr>
              <a:t>Store, insert, remove and update drone records efficiently.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736592"/>
            <a:ext cx="1965960" cy="11887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16936" y="4864607"/>
            <a:ext cx="329184" cy="329184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6936" y="4924044"/>
            <a:ext cx="32918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8554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1">
                <a:solidFill>
                  <a:srgbClr val="30D2DC"/>
                </a:solidFill>
                <a:latin typeface="Aptos"/>
              </a:rPr>
              <a:t>3D nearest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5224" y="5239512"/>
            <a:ext cx="1673352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>
                <a:solidFill>
                  <a:srgbClr val="EBF5FA"/>
                </a:solidFill>
                <a:latin typeface="Aptos"/>
              </a:rPr>
              <a:t>Implement a KD-Tree to find the nearest drone using spatial pruning.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4736592"/>
            <a:ext cx="1965960" cy="11887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111496" y="4864607"/>
            <a:ext cx="329184" cy="329184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4924044"/>
            <a:ext cx="32918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8554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1">
                <a:solidFill>
                  <a:srgbClr val="30D2DC"/>
                </a:solidFill>
                <a:latin typeface="Aptos"/>
              </a:rPr>
              <a:t>2D range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5239512"/>
            <a:ext cx="1673352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>
                <a:solidFill>
                  <a:srgbClr val="EBF5FA"/>
                </a:solidFill>
                <a:latin typeface="Aptos"/>
              </a:rPr>
              <a:t>Implement a Quad Tree to localize drones within a selected region.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4736592"/>
            <a:ext cx="1965960" cy="11887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06055" y="4864607"/>
            <a:ext cx="329184" cy="329184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06055" y="4924044"/>
            <a:ext cx="32918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8554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1">
                <a:solidFill>
                  <a:srgbClr val="30D2DC"/>
                </a:solidFill>
                <a:latin typeface="Aptos"/>
              </a:rPr>
              <a:t>Collision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5239512"/>
            <a:ext cx="1673352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>
                <a:solidFill>
                  <a:srgbClr val="EBF5FA"/>
                </a:solidFill>
                <a:latin typeface="Aptos"/>
              </a:rPr>
              <a:t>Use a Sweep Line broad phase followed by exact 3D distance checking.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4736592"/>
            <a:ext cx="1965960" cy="11887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500616" y="4864607"/>
            <a:ext cx="329184" cy="329184"/>
          </a:xfrm>
          <a:prstGeom prst="ellipse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0616" y="4924044"/>
            <a:ext cx="329184" cy="1463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48554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19" b="1">
                <a:solidFill>
                  <a:srgbClr val="30D2DC"/>
                </a:solidFill>
                <a:latin typeface="Aptos"/>
              </a:rPr>
              <a:t>Efficiency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8904" y="5239512"/>
            <a:ext cx="1673352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80" b="0">
                <a:solidFill>
                  <a:srgbClr val="EBF5FA"/>
                </a:solidFill>
                <a:latin typeface="Aptos"/>
              </a:rPr>
              <a:t>Analyze complexity and reduce unnecessary comparisons for larger drone sets.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6099048"/>
            <a:ext cx="10972800" cy="310896"/>
          </a:xfrm>
          <a:prstGeom prst="roundRect">
            <a:avLst/>
          </a:prstGeom>
          <a:solidFill>
            <a:srgbClr val="122A36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6153912"/>
            <a:ext cx="10652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850" b="1" dirty="0">
                <a:solidFill>
                  <a:srgbClr val="FFAA46"/>
                </a:solidFill>
                <a:latin typeface="Aptos"/>
              </a:rPr>
              <a:t>GOAL  →  Efficient spatial queries + timely collision / no-fly-zone alerts as drone population grows.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5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73952"/>
            <a:ext cx="146304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750" b="1">
                <a:solidFill>
                  <a:srgbClr val="30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179EB08-0AD3-C104-9CC3-EF6200424200}"/>
              </a:ext>
            </a:extLst>
          </p:cNvPr>
          <p:cNvSpPr txBox="1"/>
          <p:nvPr/>
        </p:nvSpPr>
        <p:spPr>
          <a:xfrm>
            <a:off x="594360" y="292608"/>
            <a:ext cx="86868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EBF5FA"/>
                </a:solidFill>
                <a:latin typeface="Aptos"/>
              </a:rPr>
              <a:t>Selected Data Structures &amp; Algorithms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9D801-49FE-74B5-2F33-5230E1EDA235}"/>
              </a:ext>
            </a:extLst>
          </p:cNvPr>
          <p:cNvSpPr txBox="1"/>
          <p:nvPr/>
        </p:nvSpPr>
        <p:spPr>
          <a:xfrm>
            <a:off x="594360" y="71323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9BB4C3"/>
                </a:solidFill>
                <a:latin typeface="Aptos"/>
              </a:rPr>
              <a:t>Each structure is mapped to a specific spatial operation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34D63-84FA-81C0-1556-7C72CD912529}"/>
              </a:ext>
            </a:extLst>
          </p:cNvPr>
          <p:cNvSpPr txBox="1"/>
          <p:nvPr/>
        </p:nvSpPr>
        <p:spPr>
          <a:xfrm>
            <a:off x="10972800" y="384048"/>
            <a:ext cx="6400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>
                <a:solidFill>
                  <a:srgbClr val="30D2DC"/>
                </a:solidFill>
                <a:latin typeface="Aptos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3CFBF6-0D81-B6F6-37B6-68E2BFC4A628}"/>
              </a:ext>
            </a:extLst>
          </p:cNvPr>
          <p:cNvSpPr/>
          <p:nvPr/>
        </p:nvSpPr>
        <p:spPr>
          <a:xfrm>
            <a:off x="594360" y="1234440"/>
            <a:ext cx="2057400" cy="502920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4F923D-B2DC-4337-B68C-AE3DCDA39CDE}"/>
              </a:ext>
            </a:extLst>
          </p:cNvPr>
          <p:cNvSpPr txBox="1"/>
          <p:nvPr/>
        </p:nvSpPr>
        <p:spPr>
          <a:xfrm>
            <a:off x="649224" y="1362456"/>
            <a:ext cx="194767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>
                <a:solidFill>
                  <a:srgbClr val="08121E"/>
                </a:solidFill>
                <a:latin typeface="Aptos"/>
              </a:rPr>
              <a:t>Component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163D8C-E2B9-F473-9690-2188CD80AA7A}"/>
              </a:ext>
            </a:extLst>
          </p:cNvPr>
          <p:cNvSpPr/>
          <p:nvPr/>
        </p:nvSpPr>
        <p:spPr>
          <a:xfrm>
            <a:off x="2651760" y="1234440"/>
            <a:ext cx="1508760" cy="502920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7E822D-6952-8C71-ECB3-6A4A5AEDC364}"/>
              </a:ext>
            </a:extLst>
          </p:cNvPr>
          <p:cNvSpPr txBox="1"/>
          <p:nvPr/>
        </p:nvSpPr>
        <p:spPr>
          <a:xfrm>
            <a:off x="2706624" y="1362456"/>
            <a:ext cx="1399031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>
                <a:solidFill>
                  <a:srgbClr val="08121E"/>
                </a:solidFill>
                <a:latin typeface="Aptos"/>
              </a:rPr>
              <a:t>Type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6B4A03-9F08-60A8-FC68-2FE173953327}"/>
              </a:ext>
            </a:extLst>
          </p:cNvPr>
          <p:cNvSpPr/>
          <p:nvPr/>
        </p:nvSpPr>
        <p:spPr>
          <a:xfrm>
            <a:off x="4160520" y="1234440"/>
            <a:ext cx="2240280" cy="502920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5AC891-4128-E34B-6E88-441BD304E6C4}"/>
              </a:ext>
            </a:extLst>
          </p:cNvPr>
          <p:cNvSpPr txBox="1"/>
          <p:nvPr/>
        </p:nvSpPr>
        <p:spPr>
          <a:xfrm>
            <a:off x="4215383" y="1362456"/>
            <a:ext cx="213055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>
                <a:solidFill>
                  <a:srgbClr val="08121E"/>
                </a:solidFill>
                <a:latin typeface="Aptos"/>
              </a:rPr>
              <a:t>Major operation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8282A2-E22D-1F3F-9203-9E3E0B84E76F}"/>
              </a:ext>
            </a:extLst>
          </p:cNvPr>
          <p:cNvSpPr/>
          <p:nvPr/>
        </p:nvSpPr>
        <p:spPr>
          <a:xfrm>
            <a:off x="6400800" y="1234440"/>
            <a:ext cx="5166360" cy="502920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0CA15F-0C54-50A4-BE18-EDAB9280D692}"/>
              </a:ext>
            </a:extLst>
          </p:cNvPr>
          <p:cNvSpPr txBox="1"/>
          <p:nvPr/>
        </p:nvSpPr>
        <p:spPr>
          <a:xfrm>
            <a:off x="6455664" y="1362456"/>
            <a:ext cx="50566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>
                <a:solidFill>
                  <a:srgbClr val="08121E"/>
                </a:solidFill>
                <a:latin typeface="Aptos"/>
              </a:rPr>
              <a:t>Role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4E0BD5C-2800-E0F6-F694-B45D25D15A9C}"/>
              </a:ext>
            </a:extLst>
          </p:cNvPr>
          <p:cNvSpPr/>
          <p:nvPr/>
        </p:nvSpPr>
        <p:spPr>
          <a:xfrm>
            <a:off x="594360" y="1737360"/>
            <a:ext cx="205740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102A61-15B7-804B-EBF8-704573623575}"/>
              </a:ext>
            </a:extLst>
          </p:cNvPr>
          <p:cNvSpPr txBox="1"/>
          <p:nvPr/>
        </p:nvSpPr>
        <p:spPr>
          <a:xfrm>
            <a:off x="658368" y="1856232"/>
            <a:ext cx="192938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1">
                <a:solidFill>
                  <a:srgbClr val="FFAA46"/>
                </a:solidFill>
                <a:latin typeface="Aptos"/>
              </a:rPr>
              <a:t>HashMap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50AAF3-0376-BC89-473E-A024DD159DB1}"/>
              </a:ext>
            </a:extLst>
          </p:cNvPr>
          <p:cNvSpPr/>
          <p:nvPr/>
        </p:nvSpPr>
        <p:spPr>
          <a:xfrm>
            <a:off x="2651760" y="1737360"/>
            <a:ext cx="15087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A36864-FB34-76C3-6BE9-D500E396FB63}"/>
              </a:ext>
            </a:extLst>
          </p:cNvPr>
          <p:cNvSpPr txBox="1"/>
          <p:nvPr/>
        </p:nvSpPr>
        <p:spPr>
          <a:xfrm>
            <a:off x="2715768" y="1856232"/>
            <a:ext cx="138074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Map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993B7B-0007-BF82-3D5E-16BB56485F74}"/>
              </a:ext>
            </a:extLst>
          </p:cNvPr>
          <p:cNvSpPr/>
          <p:nvPr/>
        </p:nvSpPr>
        <p:spPr>
          <a:xfrm>
            <a:off x="4160520" y="1737360"/>
            <a:ext cx="224028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633374-FA1D-5AB9-4A9E-4EEEECA1FFFE}"/>
              </a:ext>
            </a:extLst>
          </p:cNvPr>
          <p:cNvSpPr txBox="1"/>
          <p:nvPr/>
        </p:nvSpPr>
        <p:spPr>
          <a:xfrm>
            <a:off x="4224528" y="1856232"/>
            <a:ext cx="211226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put / remove / lookup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1D9E57-B4DC-E67C-EEE9-95779E293934}"/>
              </a:ext>
            </a:extLst>
          </p:cNvPr>
          <p:cNvSpPr/>
          <p:nvPr/>
        </p:nvSpPr>
        <p:spPr>
          <a:xfrm>
            <a:off x="6400800" y="1737360"/>
            <a:ext cx="51663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3822E3-3FE1-FECC-2E57-CCC316FBE3EC}"/>
              </a:ext>
            </a:extLst>
          </p:cNvPr>
          <p:cNvSpPr txBox="1"/>
          <p:nvPr/>
        </p:nvSpPr>
        <p:spPr>
          <a:xfrm>
            <a:off x="6464808" y="1856232"/>
            <a:ext cx="50383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0">
                <a:solidFill>
                  <a:srgbClr val="EBF5FA"/>
                </a:solidFill>
                <a:latin typeface="Aptos"/>
              </a:rPr>
              <a:t>Drone ID management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5B7A67-49A2-C99D-8614-0CFF5587E516}"/>
              </a:ext>
            </a:extLst>
          </p:cNvPr>
          <p:cNvSpPr/>
          <p:nvPr/>
        </p:nvSpPr>
        <p:spPr>
          <a:xfrm>
            <a:off x="594360" y="2240280"/>
            <a:ext cx="205740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4FABAA-E662-E2B8-2A7F-C35BA7C856B9}"/>
              </a:ext>
            </a:extLst>
          </p:cNvPr>
          <p:cNvSpPr txBox="1"/>
          <p:nvPr/>
        </p:nvSpPr>
        <p:spPr>
          <a:xfrm>
            <a:off x="658368" y="2359152"/>
            <a:ext cx="192938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1">
                <a:solidFill>
                  <a:srgbClr val="FFAA46"/>
                </a:solidFill>
                <a:latin typeface="Aptos"/>
              </a:rPr>
              <a:t>KD-Tree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00127F-F442-91A5-8814-88DC8A068A03}"/>
              </a:ext>
            </a:extLst>
          </p:cNvPr>
          <p:cNvSpPr/>
          <p:nvPr/>
        </p:nvSpPr>
        <p:spPr>
          <a:xfrm>
            <a:off x="2651760" y="2240280"/>
            <a:ext cx="15087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42E403-362D-15D8-EC21-42F074E640A5}"/>
              </a:ext>
            </a:extLst>
          </p:cNvPr>
          <p:cNvSpPr txBox="1"/>
          <p:nvPr/>
        </p:nvSpPr>
        <p:spPr>
          <a:xfrm>
            <a:off x="2715768" y="2359152"/>
            <a:ext cx="138074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3D tree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B07671F-6123-275C-8D18-F4C264BE898C}"/>
              </a:ext>
            </a:extLst>
          </p:cNvPr>
          <p:cNvSpPr/>
          <p:nvPr/>
        </p:nvSpPr>
        <p:spPr>
          <a:xfrm>
            <a:off x="4160520" y="2240280"/>
            <a:ext cx="224028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6B0263-4B68-B2A2-9C83-927D68891B1A}"/>
              </a:ext>
            </a:extLst>
          </p:cNvPr>
          <p:cNvSpPr txBox="1"/>
          <p:nvPr/>
        </p:nvSpPr>
        <p:spPr>
          <a:xfrm>
            <a:off x="4224528" y="2359152"/>
            <a:ext cx="211226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nearest neighbor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8B59B6-4F8E-13AF-0DA0-02C35BA7783D}"/>
              </a:ext>
            </a:extLst>
          </p:cNvPr>
          <p:cNvSpPr/>
          <p:nvPr/>
        </p:nvSpPr>
        <p:spPr>
          <a:xfrm>
            <a:off x="6400800" y="2240280"/>
            <a:ext cx="51663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67F16C-D17E-1D15-E7CA-E4C82CB5A0C6}"/>
              </a:ext>
            </a:extLst>
          </p:cNvPr>
          <p:cNvSpPr txBox="1"/>
          <p:nvPr/>
        </p:nvSpPr>
        <p:spPr>
          <a:xfrm>
            <a:off x="6464808" y="2359152"/>
            <a:ext cx="50383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0">
                <a:solidFill>
                  <a:srgbClr val="EBF5FA"/>
                </a:solidFill>
                <a:latin typeface="Aptos"/>
              </a:rPr>
              <a:t>Fast 3D proximity search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959AA1-B4CD-2838-EB47-6D181D2EC7FD}"/>
              </a:ext>
            </a:extLst>
          </p:cNvPr>
          <p:cNvSpPr/>
          <p:nvPr/>
        </p:nvSpPr>
        <p:spPr>
          <a:xfrm>
            <a:off x="594360" y="2743200"/>
            <a:ext cx="205740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BFF0D7-A519-E451-F46C-D9E68F982558}"/>
              </a:ext>
            </a:extLst>
          </p:cNvPr>
          <p:cNvSpPr txBox="1"/>
          <p:nvPr/>
        </p:nvSpPr>
        <p:spPr>
          <a:xfrm>
            <a:off x="658368" y="2862072"/>
            <a:ext cx="192938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1">
                <a:solidFill>
                  <a:srgbClr val="FFAA46"/>
                </a:solidFill>
                <a:latin typeface="Aptos"/>
              </a:rPr>
              <a:t>Quad Tree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13EDE78-38D7-C6D4-2E81-C43FA863190F}"/>
              </a:ext>
            </a:extLst>
          </p:cNvPr>
          <p:cNvSpPr/>
          <p:nvPr/>
        </p:nvSpPr>
        <p:spPr>
          <a:xfrm>
            <a:off x="2651760" y="2743200"/>
            <a:ext cx="15087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C76CBA-C045-1457-3E75-81441B5214C2}"/>
              </a:ext>
            </a:extLst>
          </p:cNvPr>
          <p:cNvSpPr txBox="1"/>
          <p:nvPr/>
        </p:nvSpPr>
        <p:spPr>
          <a:xfrm>
            <a:off x="2715768" y="2862072"/>
            <a:ext cx="138074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2D tree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D067951-8B6E-85DF-5E99-E57088385F29}"/>
              </a:ext>
            </a:extLst>
          </p:cNvPr>
          <p:cNvSpPr/>
          <p:nvPr/>
        </p:nvSpPr>
        <p:spPr>
          <a:xfrm>
            <a:off x="4160520" y="2743200"/>
            <a:ext cx="224028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2C3210-68B6-58EE-FCF2-77EB99AB268D}"/>
              </a:ext>
            </a:extLst>
          </p:cNvPr>
          <p:cNvSpPr txBox="1"/>
          <p:nvPr/>
        </p:nvSpPr>
        <p:spPr>
          <a:xfrm>
            <a:off x="4224528" y="2862072"/>
            <a:ext cx="211226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dirty="0">
                <a:solidFill>
                  <a:srgbClr val="EBF5FA"/>
                </a:solidFill>
                <a:latin typeface="Aptos"/>
              </a:rPr>
              <a:t>range query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F3BFEB-F618-3070-51A6-349D2BA5765B}"/>
              </a:ext>
            </a:extLst>
          </p:cNvPr>
          <p:cNvSpPr/>
          <p:nvPr/>
        </p:nvSpPr>
        <p:spPr>
          <a:xfrm>
            <a:off x="6400800" y="2743200"/>
            <a:ext cx="51663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4AC3061-16D7-BC3D-C43D-DEF7DA30D4B3}"/>
              </a:ext>
            </a:extLst>
          </p:cNvPr>
          <p:cNvSpPr txBox="1"/>
          <p:nvPr/>
        </p:nvSpPr>
        <p:spPr>
          <a:xfrm>
            <a:off x="6464808" y="2862072"/>
            <a:ext cx="50383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0">
                <a:solidFill>
                  <a:srgbClr val="EBF5FA"/>
                </a:solidFill>
                <a:latin typeface="Aptos"/>
              </a:rPr>
              <a:t>Localized spatial lookup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A22B0C7-B17E-A68B-00FB-AB565A2F6409}"/>
              </a:ext>
            </a:extLst>
          </p:cNvPr>
          <p:cNvSpPr/>
          <p:nvPr/>
        </p:nvSpPr>
        <p:spPr>
          <a:xfrm>
            <a:off x="594360" y="3246120"/>
            <a:ext cx="205740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B7BA90-03F7-0499-D544-9961548A2E2E}"/>
              </a:ext>
            </a:extLst>
          </p:cNvPr>
          <p:cNvSpPr txBox="1"/>
          <p:nvPr/>
        </p:nvSpPr>
        <p:spPr>
          <a:xfrm>
            <a:off x="658368" y="3364992"/>
            <a:ext cx="192938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1">
                <a:solidFill>
                  <a:srgbClr val="FFAA46"/>
                </a:solidFill>
                <a:latin typeface="Aptos"/>
              </a:rPr>
              <a:t>Sweep Line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8AFEBC-B423-DFB1-B2CF-C8C58C484FB9}"/>
              </a:ext>
            </a:extLst>
          </p:cNvPr>
          <p:cNvSpPr/>
          <p:nvPr/>
        </p:nvSpPr>
        <p:spPr>
          <a:xfrm>
            <a:off x="2651760" y="3246120"/>
            <a:ext cx="15087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516C732-AEDD-24F7-C30E-55E1D9B64291}"/>
              </a:ext>
            </a:extLst>
          </p:cNvPr>
          <p:cNvSpPr txBox="1"/>
          <p:nvPr/>
        </p:nvSpPr>
        <p:spPr>
          <a:xfrm>
            <a:off x="2715768" y="3364992"/>
            <a:ext cx="138074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Algorithm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99EF3A0-93F9-ACBD-FB46-C7A12296656D}"/>
              </a:ext>
            </a:extLst>
          </p:cNvPr>
          <p:cNvSpPr/>
          <p:nvPr/>
        </p:nvSpPr>
        <p:spPr>
          <a:xfrm>
            <a:off x="4160520" y="3246120"/>
            <a:ext cx="224028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E2369EF-E5ED-8874-AF12-57842266495E}"/>
              </a:ext>
            </a:extLst>
          </p:cNvPr>
          <p:cNvSpPr txBox="1"/>
          <p:nvPr/>
        </p:nvSpPr>
        <p:spPr>
          <a:xfrm>
            <a:off x="4224528" y="3364992"/>
            <a:ext cx="211226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broad-phase collision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E386560-FB74-B0B9-B823-4D1BA0E5DCC5}"/>
              </a:ext>
            </a:extLst>
          </p:cNvPr>
          <p:cNvSpPr/>
          <p:nvPr/>
        </p:nvSpPr>
        <p:spPr>
          <a:xfrm>
            <a:off x="6400800" y="3246120"/>
            <a:ext cx="51663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DE46B5F-C4EA-3B0B-2C74-172A8C745C00}"/>
              </a:ext>
            </a:extLst>
          </p:cNvPr>
          <p:cNvSpPr txBox="1"/>
          <p:nvPr/>
        </p:nvSpPr>
        <p:spPr>
          <a:xfrm>
            <a:off x="6464808" y="3364992"/>
            <a:ext cx="50383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0">
                <a:solidFill>
                  <a:srgbClr val="EBF5FA"/>
                </a:solidFill>
                <a:latin typeface="Aptos"/>
              </a:rPr>
              <a:t>Reduce candidate pairs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E604B92-36F9-8D60-B6B2-0F09BFF520BB}"/>
              </a:ext>
            </a:extLst>
          </p:cNvPr>
          <p:cNvSpPr/>
          <p:nvPr/>
        </p:nvSpPr>
        <p:spPr>
          <a:xfrm>
            <a:off x="594360" y="3749039"/>
            <a:ext cx="205740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FD1A065-5B56-6E7D-6EC2-5C9D926E66EC}"/>
              </a:ext>
            </a:extLst>
          </p:cNvPr>
          <p:cNvSpPr txBox="1"/>
          <p:nvPr/>
        </p:nvSpPr>
        <p:spPr>
          <a:xfrm>
            <a:off x="658368" y="3867911"/>
            <a:ext cx="192938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1">
                <a:solidFill>
                  <a:srgbClr val="FFAA46"/>
                </a:solidFill>
                <a:latin typeface="Aptos"/>
              </a:rPr>
              <a:t>ArrayList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929F8E-A4A5-A7C4-87E1-3C099EB51481}"/>
              </a:ext>
            </a:extLst>
          </p:cNvPr>
          <p:cNvSpPr/>
          <p:nvPr/>
        </p:nvSpPr>
        <p:spPr>
          <a:xfrm>
            <a:off x="2651760" y="3749039"/>
            <a:ext cx="15087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508D3BA-24BC-5E68-733B-F21A25119FC3}"/>
              </a:ext>
            </a:extLst>
          </p:cNvPr>
          <p:cNvSpPr txBox="1"/>
          <p:nvPr/>
        </p:nvSpPr>
        <p:spPr>
          <a:xfrm>
            <a:off x="2715768" y="3867911"/>
            <a:ext cx="138074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Dynamic list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8B8BE3A-E1A9-32D7-CB1F-93E262249CA2}"/>
              </a:ext>
            </a:extLst>
          </p:cNvPr>
          <p:cNvSpPr/>
          <p:nvPr/>
        </p:nvSpPr>
        <p:spPr>
          <a:xfrm>
            <a:off x="4160520" y="3749039"/>
            <a:ext cx="224028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EC54A28-738D-47BD-5F12-FF65B249212D}"/>
              </a:ext>
            </a:extLst>
          </p:cNvPr>
          <p:cNvSpPr txBox="1"/>
          <p:nvPr/>
        </p:nvSpPr>
        <p:spPr>
          <a:xfrm>
            <a:off x="4224528" y="3867911"/>
            <a:ext cx="211226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>
                <a:solidFill>
                  <a:srgbClr val="EBF5FA"/>
                </a:solidFill>
                <a:latin typeface="Aptos"/>
              </a:rPr>
              <a:t>store / iterate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A6AB710-3E7A-6EC0-C862-57D6460291E0}"/>
              </a:ext>
            </a:extLst>
          </p:cNvPr>
          <p:cNvSpPr/>
          <p:nvPr/>
        </p:nvSpPr>
        <p:spPr>
          <a:xfrm>
            <a:off x="6400800" y="3749039"/>
            <a:ext cx="5166360" cy="502920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2FDCE18-87DA-8326-70B0-2289A7425B49}"/>
              </a:ext>
            </a:extLst>
          </p:cNvPr>
          <p:cNvSpPr txBox="1"/>
          <p:nvPr/>
        </p:nvSpPr>
        <p:spPr>
          <a:xfrm>
            <a:off x="6464808" y="3867911"/>
            <a:ext cx="50383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40" b="0">
                <a:solidFill>
                  <a:srgbClr val="EBF5FA"/>
                </a:solidFill>
                <a:latin typeface="Aptos"/>
              </a:rPr>
              <a:t>Drone &amp; active-set storage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5D9D714-A3E5-23C8-D06B-9A401E0E000F}"/>
              </a:ext>
            </a:extLst>
          </p:cNvPr>
          <p:cNvSpPr txBox="1"/>
          <p:nvPr/>
        </p:nvSpPr>
        <p:spPr>
          <a:xfrm>
            <a:off x="594360" y="470916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FFAA46"/>
                </a:solidFill>
                <a:latin typeface="Aptos"/>
              </a:rPr>
              <a:t>ALGORITHMS</a:t>
            </a:r>
          </a:p>
        </p:txBody>
      </p:sp>
      <p:sp>
        <p:nvSpPr>
          <p:cNvPr id="127" name="Rounded Rectangle 55">
            <a:extLst>
              <a:ext uri="{FF2B5EF4-FFF2-40B4-BE49-F238E27FC236}">
                <a16:creationId xmlns:a16="http://schemas.microsoft.com/office/drawing/2014/main" id="{DF9D09A2-A073-0296-91D0-90A230C2D4F1}"/>
              </a:ext>
            </a:extLst>
          </p:cNvPr>
          <p:cNvSpPr/>
          <p:nvPr/>
        </p:nvSpPr>
        <p:spPr>
          <a:xfrm>
            <a:off x="594360" y="5010912"/>
            <a:ext cx="5212080" cy="56692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56">
            <a:extLst>
              <a:ext uri="{FF2B5EF4-FFF2-40B4-BE49-F238E27FC236}">
                <a16:creationId xmlns:a16="http://schemas.microsoft.com/office/drawing/2014/main" id="{ACB54EB9-87CB-AA2A-9F3B-F3CC99FB3114}"/>
              </a:ext>
            </a:extLst>
          </p:cNvPr>
          <p:cNvSpPr/>
          <p:nvPr/>
        </p:nvSpPr>
        <p:spPr>
          <a:xfrm>
            <a:off x="704088" y="5138928"/>
            <a:ext cx="347472" cy="256032"/>
          </a:xfrm>
          <a:prstGeom prst="roundRect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CA2732F-ECFB-B97F-CA4E-19D81403EC7B}"/>
              </a:ext>
            </a:extLst>
          </p:cNvPr>
          <p:cNvSpPr txBox="1"/>
          <p:nvPr/>
        </p:nvSpPr>
        <p:spPr>
          <a:xfrm>
            <a:off x="704088" y="5184648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251324C-7C47-19C5-CB87-6313C12D64BB}"/>
              </a:ext>
            </a:extLst>
          </p:cNvPr>
          <p:cNvSpPr txBox="1"/>
          <p:nvPr/>
        </p:nvSpPr>
        <p:spPr>
          <a:xfrm>
            <a:off x="1161288" y="5102352"/>
            <a:ext cx="44348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30D2DC"/>
                </a:solidFill>
                <a:latin typeface="Aptos"/>
              </a:rPr>
              <a:t>KD-Tree — Nearest Neighbor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D73B1E5-7C50-116A-8E6D-FA41278F724B}"/>
              </a:ext>
            </a:extLst>
          </p:cNvPr>
          <p:cNvSpPr txBox="1"/>
          <p:nvPr/>
        </p:nvSpPr>
        <p:spPr>
          <a:xfrm>
            <a:off x="1161288" y="5294376"/>
            <a:ext cx="4434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20" b="0">
                <a:solidFill>
                  <a:srgbClr val="EBF5FA"/>
                </a:solidFill>
                <a:latin typeface="Aptos"/>
              </a:rPr>
              <a:t>Finds the closest drone in 3D space by splitting points along X, Y and Z axes and pruning distant branches.</a:t>
            </a:r>
          </a:p>
        </p:txBody>
      </p:sp>
      <p:sp>
        <p:nvSpPr>
          <p:cNvPr id="137" name="Rounded Rectangle 60">
            <a:extLst>
              <a:ext uri="{FF2B5EF4-FFF2-40B4-BE49-F238E27FC236}">
                <a16:creationId xmlns:a16="http://schemas.microsoft.com/office/drawing/2014/main" id="{8E4B27BA-2725-0E2A-8315-D3E776E12924}"/>
              </a:ext>
            </a:extLst>
          </p:cNvPr>
          <p:cNvSpPr/>
          <p:nvPr/>
        </p:nvSpPr>
        <p:spPr>
          <a:xfrm>
            <a:off x="6172200" y="5010912"/>
            <a:ext cx="5212080" cy="56692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61">
            <a:extLst>
              <a:ext uri="{FF2B5EF4-FFF2-40B4-BE49-F238E27FC236}">
                <a16:creationId xmlns:a16="http://schemas.microsoft.com/office/drawing/2014/main" id="{FF944531-FD8C-3D0C-5D06-3FEE620C195A}"/>
              </a:ext>
            </a:extLst>
          </p:cNvPr>
          <p:cNvSpPr/>
          <p:nvPr/>
        </p:nvSpPr>
        <p:spPr>
          <a:xfrm>
            <a:off x="6281928" y="5138928"/>
            <a:ext cx="347472" cy="256032"/>
          </a:xfrm>
          <a:prstGeom prst="roundRect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5B0893A-BBC3-596F-6C76-BA7CDD65BD4C}"/>
              </a:ext>
            </a:extLst>
          </p:cNvPr>
          <p:cNvSpPr txBox="1"/>
          <p:nvPr/>
        </p:nvSpPr>
        <p:spPr>
          <a:xfrm>
            <a:off x="6281928" y="5184648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A027D0A-7359-639C-51E7-E5B21A834B47}"/>
              </a:ext>
            </a:extLst>
          </p:cNvPr>
          <p:cNvSpPr txBox="1"/>
          <p:nvPr/>
        </p:nvSpPr>
        <p:spPr>
          <a:xfrm>
            <a:off x="6739128" y="5102352"/>
            <a:ext cx="44348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30D2DC"/>
                </a:solidFill>
                <a:latin typeface="Aptos"/>
              </a:rPr>
              <a:t>Quad Tree — Range Query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E0C06D2-15EE-06A8-AFE9-AF49C463D1CC}"/>
              </a:ext>
            </a:extLst>
          </p:cNvPr>
          <p:cNvSpPr txBox="1"/>
          <p:nvPr/>
        </p:nvSpPr>
        <p:spPr>
          <a:xfrm>
            <a:off x="6739128" y="5294376"/>
            <a:ext cx="4434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20" b="0">
                <a:solidFill>
                  <a:srgbClr val="EBF5FA"/>
                </a:solidFill>
                <a:latin typeface="Aptos"/>
              </a:rPr>
              <a:t>Divides the 2D airspace into regions and searches only the regions that intersect the query area.</a:t>
            </a:r>
          </a:p>
        </p:txBody>
      </p:sp>
      <p:sp>
        <p:nvSpPr>
          <p:cNvPr id="147" name="Rounded Rectangle 65">
            <a:extLst>
              <a:ext uri="{FF2B5EF4-FFF2-40B4-BE49-F238E27FC236}">
                <a16:creationId xmlns:a16="http://schemas.microsoft.com/office/drawing/2014/main" id="{B6E074C2-ED7F-DF4A-8679-42617596FDA4}"/>
              </a:ext>
            </a:extLst>
          </p:cNvPr>
          <p:cNvSpPr/>
          <p:nvPr/>
        </p:nvSpPr>
        <p:spPr>
          <a:xfrm>
            <a:off x="594360" y="5687568"/>
            <a:ext cx="5212080" cy="56692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66">
            <a:extLst>
              <a:ext uri="{FF2B5EF4-FFF2-40B4-BE49-F238E27FC236}">
                <a16:creationId xmlns:a16="http://schemas.microsoft.com/office/drawing/2014/main" id="{3F549CE7-1229-3AC3-2969-F30D0333025D}"/>
              </a:ext>
            </a:extLst>
          </p:cNvPr>
          <p:cNvSpPr/>
          <p:nvPr/>
        </p:nvSpPr>
        <p:spPr>
          <a:xfrm>
            <a:off x="704088" y="5815583"/>
            <a:ext cx="347472" cy="256032"/>
          </a:xfrm>
          <a:prstGeom prst="roundRect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F5FB74F-23EF-AEC5-4CDF-CE86E3FF64E9}"/>
              </a:ext>
            </a:extLst>
          </p:cNvPr>
          <p:cNvSpPr txBox="1"/>
          <p:nvPr/>
        </p:nvSpPr>
        <p:spPr>
          <a:xfrm>
            <a:off x="704088" y="5861304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03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7F8857B-304A-AA3C-DA24-CBA89463FF88}"/>
              </a:ext>
            </a:extLst>
          </p:cNvPr>
          <p:cNvSpPr txBox="1"/>
          <p:nvPr/>
        </p:nvSpPr>
        <p:spPr>
          <a:xfrm>
            <a:off x="1161288" y="5779007"/>
            <a:ext cx="44348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30D2DC"/>
                </a:solidFill>
                <a:latin typeface="Aptos"/>
              </a:rPr>
              <a:t>Sweep Line — Collision Detection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FF0C4D7-5B03-6757-CDB6-937D6C34F1B6}"/>
              </a:ext>
            </a:extLst>
          </p:cNvPr>
          <p:cNvSpPr txBox="1"/>
          <p:nvPr/>
        </p:nvSpPr>
        <p:spPr>
          <a:xfrm>
            <a:off x="1161288" y="5971031"/>
            <a:ext cx="4434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20" b="0">
                <a:solidFill>
                  <a:srgbClr val="EBF5FA"/>
                </a:solidFill>
                <a:latin typeface="Aptos"/>
              </a:rPr>
              <a:t>Sorts drones by X-position, maintains active candidates, checks Y-overlap, then confirms collision using 3D distance.</a:t>
            </a:r>
          </a:p>
        </p:txBody>
      </p:sp>
      <p:sp>
        <p:nvSpPr>
          <p:cNvPr id="157" name="Rounded Rectangle 70">
            <a:extLst>
              <a:ext uri="{FF2B5EF4-FFF2-40B4-BE49-F238E27FC236}">
                <a16:creationId xmlns:a16="http://schemas.microsoft.com/office/drawing/2014/main" id="{48BE0FDC-8B2C-D12C-AA50-31B859670D6F}"/>
              </a:ext>
            </a:extLst>
          </p:cNvPr>
          <p:cNvSpPr/>
          <p:nvPr/>
        </p:nvSpPr>
        <p:spPr>
          <a:xfrm>
            <a:off x="6172200" y="5687568"/>
            <a:ext cx="5212080" cy="56692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71">
            <a:extLst>
              <a:ext uri="{FF2B5EF4-FFF2-40B4-BE49-F238E27FC236}">
                <a16:creationId xmlns:a16="http://schemas.microsoft.com/office/drawing/2014/main" id="{7049DF4A-CCD3-1FB9-94B5-C086364CFBDA}"/>
              </a:ext>
            </a:extLst>
          </p:cNvPr>
          <p:cNvSpPr/>
          <p:nvPr/>
        </p:nvSpPr>
        <p:spPr>
          <a:xfrm>
            <a:off x="6281928" y="5815583"/>
            <a:ext cx="347472" cy="256032"/>
          </a:xfrm>
          <a:prstGeom prst="roundRect">
            <a:avLst/>
          </a:prstGeom>
          <a:solidFill>
            <a:srgbClr val="30D2DC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A959692-0FDE-48A2-4887-07805167AFBC}"/>
              </a:ext>
            </a:extLst>
          </p:cNvPr>
          <p:cNvSpPr txBox="1"/>
          <p:nvPr/>
        </p:nvSpPr>
        <p:spPr>
          <a:xfrm>
            <a:off x="6281928" y="5861304"/>
            <a:ext cx="34747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>
                <a:solidFill>
                  <a:srgbClr val="08121E"/>
                </a:solidFill>
                <a:latin typeface="Aptos"/>
              </a:rPr>
              <a:t>04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6BD6236-A21D-B4B3-3D35-2366EAA2BB10}"/>
              </a:ext>
            </a:extLst>
          </p:cNvPr>
          <p:cNvSpPr txBox="1"/>
          <p:nvPr/>
        </p:nvSpPr>
        <p:spPr>
          <a:xfrm>
            <a:off x="6739128" y="5779007"/>
            <a:ext cx="44348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30D2DC"/>
                </a:solidFill>
                <a:latin typeface="Aptos"/>
              </a:rPr>
              <a:t>Euclidean 3D Distance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D259544-9A66-EE02-5669-B7E28A4426FA}"/>
              </a:ext>
            </a:extLst>
          </p:cNvPr>
          <p:cNvSpPr txBox="1"/>
          <p:nvPr/>
        </p:nvSpPr>
        <p:spPr>
          <a:xfrm>
            <a:off x="6739128" y="5971031"/>
            <a:ext cx="4434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20" b="0">
                <a:solidFill>
                  <a:srgbClr val="EBF5FA"/>
                </a:solidFill>
                <a:latin typeface="Aptos"/>
              </a:rPr>
              <a:t>Calculates the exact distance between two 3D points for collision and no-fly-zone validation.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6AC4AF5-F94A-3A1C-A385-C18371A053B1}"/>
              </a:ext>
            </a:extLst>
          </p:cNvPr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B8E232A-66AC-2574-A1B9-F18CB138E67E}"/>
              </a:ext>
            </a:extLst>
          </p:cNvPr>
          <p:cNvSpPr txBox="1"/>
          <p:nvPr/>
        </p:nvSpPr>
        <p:spPr>
          <a:xfrm>
            <a:off x="10058400" y="6473952"/>
            <a:ext cx="14630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1">
                <a:solidFill>
                  <a:srgbClr val="30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F7B9C61B-2C6C-F9A0-08E8-AB70D0C91CE5}"/>
              </a:ext>
            </a:extLst>
          </p:cNvPr>
          <p:cNvSpPr txBox="1"/>
          <p:nvPr/>
        </p:nvSpPr>
        <p:spPr>
          <a:xfrm>
            <a:off x="594360" y="274320"/>
            <a:ext cx="8686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EBF5FA"/>
                </a:solidFill>
                <a:latin typeface="Aptos"/>
              </a:rPr>
              <a:t>Why These Data Structures &amp; Algorithms?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9F7B0-BFFA-3DC6-98B4-17551F358639}"/>
              </a:ext>
            </a:extLst>
          </p:cNvPr>
          <p:cNvSpPr txBox="1"/>
          <p:nvPr/>
        </p:nvSpPr>
        <p:spPr>
          <a:xfrm>
            <a:off x="594360" y="731520"/>
            <a:ext cx="9144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9BB4C3"/>
                </a:solidFill>
                <a:latin typeface="Aptos"/>
              </a:rPr>
              <a:t>DSA selection based on the project's required operations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004427-DDDC-8375-33BE-81E01E7F6042}"/>
              </a:ext>
            </a:extLst>
          </p:cNvPr>
          <p:cNvSpPr txBox="1"/>
          <p:nvPr/>
        </p:nvSpPr>
        <p:spPr>
          <a:xfrm>
            <a:off x="10972800" y="38404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30D2DC"/>
                </a:solidFill>
                <a:latin typeface="Aptos"/>
              </a:rPr>
              <a:t>07</a:t>
            </a: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31A6D916-D1E3-7AEE-2C82-D5D039175F92}"/>
              </a:ext>
            </a:extLst>
          </p:cNvPr>
          <p:cNvSpPr/>
          <p:nvPr/>
        </p:nvSpPr>
        <p:spPr>
          <a:xfrm>
            <a:off x="594360" y="1170432"/>
            <a:ext cx="10972800" cy="548640"/>
          </a:xfrm>
          <a:prstGeom prst="roundRect">
            <a:avLst/>
          </a:prstGeom>
          <a:solidFill>
            <a:srgbClr val="122A36"/>
          </a:solidFill>
          <a:ln>
            <a:solidFill>
              <a:srgbClr val="3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F5A6F9-EBFC-BE52-EAE0-4CB341CC805D}"/>
              </a:ext>
            </a:extLst>
          </p:cNvPr>
          <p:cNvSpPr txBox="1"/>
          <p:nvPr/>
        </p:nvSpPr>
        <p:spPr>
          <a:xfrm>
            <a:off x="822960" y="1307592"/>
            <a:ext cx="10515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FFAA46"/>
                </a:solidFill>
                <a:latin typeface="Aptos"/>
              </a:rPr>
              <a:t>KEY IDEA: Each DSA is chosen for the spatial operation it handles best.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297B46-6AEE-0F44-E609-C942FE35580D}"/>
              </a:ext>
            </a:extLst>
          </p:cNvPr>
          <p:cNvSpPr/>
          <p:nvPr/>
        </p:nvSpPr>
        <p:spPr>
          <a:xfrm>
            <a:off x="594360" y="1901952"/>
            <a:ext cx="2240280" cy="566928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E55F78-0EC0-454C-2B0A-5432E1BC7AE7}"/>
              </a:ext>
            </a:extLst>
          </p:cNvPr>
          <p:cNvSpPr txBox="1"/>
          <p:nvPr/>
        </p:nvSpPr>
        <p:spPr>
          <a:xfrm>
            <a:off x="649224" y="2039112"/>
            <a:ext cx="21305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Requirement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F5C771-166F-E795-FD13-164968B9032F}"/>
              </a:ext>
            </a:extLst>
          </p:cNvPr>
          <p:cNvSpPr/>
          <p:nvPr/>
        </p:nvSpPr>
        <p:spPr>
          <a:xfrm>
            <a:off x="2834640" y="1901952"/>
            <a:ext cx="3063240" cy="566928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A739CD-DC71-D703-2C4E-9C1337036703}"/>
              </a:ext>
            </a:extLst>
          </p:cNvPr>
          <p:cNvSpPr txBox="1"/>
          <p:nvPr/>
        </p:nvSpPr>
        <p:spPr>
          <a:xfrm>
            <a:off x="2889504" y="2039112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Required operation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4157B5-BB18-9F2C-6C10-E7DECDA4C0F2}"/>
              </a:ext>
            </a:extLst>
          </p:cNvPr>
          <p:cNvSpPr/>
          <p:nvPr/>
        </p:nvSpPr>
        <p:spPr>
          <a:xfrm>
            <a:off x="5897880" y="1901952"/>
            <a:ext cx="2926080" cy="566928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435D92-6CCB-1220-D185-4A3B3E603C6E}"/>
              </a:ext>
            </a:extLst>
          </p:cNvPr>
          <p:cNvSpPr txBox="1"/>
          <p:nvPr/>
        </p:nvSpPr>
        <p:spPr>
          <a:xfrm>
            <a:off x="5952744" y="2039112"/>
            <a:ext cx="28163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Selected DSA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7B7B6B-A847-4ED7-3D7C-2B1E4B1EA0E6}"/>
              </a:ext>
            </a:extLst>
          </p:cNvPr>
          <p:cNvSpPr/>
          <p:nvPr/>
        </p:nvSpPr>
        <p:spPr>
          <a:xfrm>
            <a:off x="8823960" y="1901952"/>
            <a:ext cx="2743200" cy="566928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F22B27-33FB-D66B-12FE-8BA15D19C1FD}"/>
              </a:ext>
            </a:extLst>
          </p:cNvPr>
          <p:cNvSpPr txBox="1"/>
          <p:nvPr/>
        </p:nvSpPr>
        <p:spPr>
          <a:xfrm>
            <a:off x="8878824" y="2039112"/>
            <a:ext cx="263347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Why it fits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A0CB37-BCB0-BD04-CE15-4A13BCEA3800}"/>
              </a:ext>
            </a:extLst>
          </p:cNvPr>
          <p:cNvSpPr/>
          <p:nvPr/>
        </p:nvSpPr>
        <p:spPr>
          <a:xfrm>
            <a:off x="594360" y="2468880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457F00-476E-6295-ED03-18B316B0F9CA}"/>
              </a:ext>
            </a:extLst>
          </p:cNvPr>
          <p:cNvSpPr txBox="1"/>
          <p:nvPr/>
        </p:nvSpPr>
        <p:spPr>
          <a:xfrm>
            <a:off x="658368" y="2551176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Problem requirements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11F1302-9651-7E19-2FE0-DEDEA776DA18}"/>
              </a:ext>
            </a:extLst>
          </p:cNvPr>
          <p:cNvSpPr/>
          <p:nvPr/>
        </p:nvSpPr>
        <p:spPr>
          <a:xfrm>
            <a:off x="2834640" y="2468880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EB59C2-87C5-C810-DFE7-AA5219950F2D}"/>
              </a:ext>
            </a:extLst>
          </p:cNvPr>
          <p:cNvSpPr txBox="1"/>
          <p:nvPr/>
        </p:nvSpPr>
        <p:spPr>
          <a:xfrm>
            <a:off x="2898648" y="2551176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Track drones, detect collisions, check restricted airspace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A22F8C-8C23-AEFC-6AD4-29DCFE3EE215}"/>
              </a:ext>
            </a:extLst>
          </p:cNvPr>
          <p:cNvSpPr/>
          <p:nvPr/>
        </p:nvSpPr>
        <p:spPr>
          <a:xfrm>
            <a:off x="5897880" y="2468880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C8A615-C4E3-F7C1-DDA6-3909DA400F69}"/>
              </a:ext>
            </a:extLst>
          </p:cNvPr>
          <p:cNvSpPr txBox="1"/>
          <p:nvPr/>
        </p:nvSpPr>
        <p:spPr>
          <a:xfrm>
            <a:off x="5961888" y="2551176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HashMap + KD-Tree + Quad Tree + Sweep Line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90C6560-CC07-978E-DA18-C25DABA0EA7E}"/>
              </a:ext>
            </a:extLst>
          </p:cNvPr>
          <p:cNvSpPr/>
          <p:nvPr/>
        </p:nvSpPr>
        <p:spPr>
          <a:xfrm>
            <a:off x="8823960" y="2468880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76D626-5D27-F012-C951-0D5187C32B03}"/>
              </a:ext>
            </a:extLst>
          </p:cNvPr>
          <p:cNvSpPr txBox="1"/>
          <p:nvPr/>
        </p:nvSpPr>
        <p:spPr>
          <a:xfrm>
            <a:off x="8887968" y="2551176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Covers ID management, spatial search and collision detection.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2686035-C8C1-F010-5888-CAE1752AEAD2}"/>
              </a:ext>
            </a:extLst>
          </p:cNvPr>
          <p:cNvSpPr/>
          <p:nvPr/>
        </p:nvSpPr>
        <p:spPr>
          <a:xfrm>
            <a:off x="594360" y="3035808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C662A2-9F56-0282-2629-AD1DE2739920}"/>
              </a:ext>
            </a:extLst>
          </p:cNvPr>
          <p:cNvSpPr txBox="1"/>
          <p:nvPr/>
        </p:nvSpPr>
        <p:spPr>
          <a:xfrm>
            <a:off x="658368" y="3118104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Required operations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FC41002-C060-5C7D-C779-A112455A7E56}"/>
              </a:ext>
            </a:extLst>
          </p:cNvPr>
          <p:cNvSpPr/>
          <p:nvPr/>
        </p:nvSpPr>
        <p:spPr>
          <a:xfrm>
            <a:off x="2834640" y="3035808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7C6186-123A-1A88-BF74-55AED23B08D7}"/>
              </a:ext>
            </a:extLst>
          </p:cNvPr>
          <p:cNvSpPr txBox="1"/>
          <p:nvPr/>
        </p:nvSpPr>
        <p:spPr>
          <a:xfrm>
            <a:off x="2898648" y="3118104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Insert / remove / lookup; nearest; range; collision filtering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D273F9-62CD-F8C7-AF8A-40F7A31CB45C}"/>
              </a:ext>
            </a:extLst>
          </p:cNvPr>
          <p:cNvSpPr/>
          <p:nvPr/>
        </p:nvSpPr>
        <p:spPr>
          <a:xfrm>
            <a:off x="5897880" y="3035808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62E8AF-B16F-7D4D-9D38-0AC20FE0E01A}"/>
              </a:ext>
            </a:extLst>
          </p:cNvPr>
          <p:cNvSpPr txBox="1"/>
          <p:nvPr/>
        </p:nvSpPr>
        <p:spPr>
          <a:xfrm>
            <a:off x="5961888" y="3118104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HashMap + KD-Tree + Quad Tree + Sweep Line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C1804D6-AE44-B735-D09C-C6775C8193FD}"/>
              </a:ext>
            </a:extLst>
          </p:cNvPr>
          <p:cNvSpPr/>
          <p:nvPr/>
        </p:nvSpPr>
        <p:spPr>
          <a:xfrm>
            <a:off x="8823960" y="3035808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85B517-E76A-1538-374B-E73A0225442A}"/>
              </a:ext>
            </a:extLst>
          </p:cNvPr>
          <p:cNvSpPr txBox="1"/>
          <p:nvPr/>
        </p:nvSpPr>
        <p:spPr>
          <a:xfrm>
            <a:off x="8887968" y="3118104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Each operation is mapped to a dedicated structure / algorithm.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B561A5-9A97-3638-C2D0-83215DFBA138}"/>
              </a:ext>
            </a:extLst>
          </p:cNvPr>
          <p:cNvSpPr/>
          <p:nvPr/>
        </p:nvSpPr>
        <p:spPr>
          <a:xfrm>
            <a:off x="594360" y="3602736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1EA750-5867-E148-5B6A-CBC79788131E}"/>
              </a:ext>
            </a:extLst>
          </p:cNvPr>
          <p:cNvSpPr txBox="1"/>
          <p:nvPr/>
        </p:nvSpPr>
        <p:spPr>
          <a:xfrm>
            <a:off x="658368" y="3685032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Suitability of selected DSA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1135D8A-6B15-82E8-68C9-3BC65916AAFE}"/>
              </a:ext>
            </a:extLst>
          </p:cNvPr>
          <p:cNvSpPr/>
          <p:nvPr/>
        </p:nvSpPr>
        <p:spPr>
          <a:xfrm>
            <a:off x="2834640" y="3602736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16543A2-F1F3-7901-A38C-059F467FB1BC}"/>
              </a:ext>
            </a:extLst>
          </p:cNvPr>
          <p:cNvSpPr txBox="1"/>
          <p:nvPr/>
        </p:nvSpPr>
        <p:spPr>
          <a:xfrm>
            <a:off x="2898648" y="3685032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3D point search + 2D region search + collision broad phase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3B217D7-CCB7-CE2A-3A2A-7436149EE819}"/>
              </a:ext>
            </a:extLst>
          </p:cNvPr>
          <p:cNvSpPr/>
          <p:nvPr/>
        </p:nvSpPr>
        <p:spPr>
          <a:xfrm>
            <a:off x="5897880" y="3602736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27588C0-0AE4-027A-FFC1-6FA1B99ECAEF}"/>
              </a:ext>
            </a:extLst>
          </p:cNvPr>
          <p:cNvSpPr txBox="1"/>
          <p:nvPr/>
        </p:nvSpPr>
        <p:spPr>
          <a:xfrm>
            <a:off x="5961888" y="3685032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KD-Tree + Quad Tree + Sweep Line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9F8C2E3-AF8E-EFDA-ACE7-7F3C8B6E2D98}"/>
              </a:ext>
            </a:extLst>
          </p:cNvPr>
          <p:cNvSpPr/>
          <p:nvPr/>
        </p:nvSpPr>
        <p:spPr>
          <a:xfrm>
            <a:off x="8823960" y="3602736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1BA149A-04B8-DE8B-6D1E-B12D6158DEBE}"/>
              </a:ext>
            </a:extLst>
          </p:cNvPr>
          <p:cNvSpPr txBox="1"/>
          <p:nvPr/>
        </p:nvSpPr>
        <p:spPr>
          <a:xfrm>
            <a:off x="8887968" y="3685032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 dirty="0">
                <a:solidFill>
                  <a:srgbClr val="EBF5FA"/>
                </a:solidFill>
                <a:latin typeface="Aptos"/>
              </a:rPr>
              <a:t>Matches the geometry of the actual query.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279F991-5FBF-CD0E-B95D-296CB47CC792}"/>
              </a:ext>
            </a:extLst>
          </p:cNvPr>
          <p:cNvSpPr/>
          <p:nvPr/>
        </p:nvSpPr>
        <p:spPr>
          <a:xfrm>
            <a:off x="594360" y="4169664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75C4D5-B057-A76A-98A2-5DD83E2C7A3B}"/>
              </a:ext>
            </a:extLst>
          </p:cNvPr>
          <p:cNvSpPr txBox="1"/>
          <p:nvPr/>
        </p:nvSpPr>
        <p:spPr>
          <a:xfrm>
            <a:off x="658368" y="4251960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Alternative DSA / algorithms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F76D67A-0EDE-9BE2-8F9D-926F933896AD}"/>
              </a:ext>
            </a:extLst>
          </p:cNvPr>
          <p:cNvSpPr/>
          <p:nvPr/>
        </p:nvSpPr>
        <p:spPr>
          <a:xfrm>
            <a:off x="2834640" y="4169664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5ECC96C-400C-E76E-CC14-C8436844D438}"/>
              </a:ext>
            </a:extLst>
          </p:cNvPr>
          <p:cNvSpPr txBox="1"/>
          <p:nvPr/>
        </p:nvSpPr>
        <p:spPr>
          <a:xfrm>
            <a:off x="2898648" y="4251960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Brute-force pairs; HashMap alone; one structure for all tasks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ED66520-21CE-76FB-3932-57D88FE50804}"/>
              </a:ext>
            </a:extLst>
          </p:cNvPr>
          <p:cNvSpPr/>
          <p:nvPr/>
        </p:nvSpPr>
        <p:spPr>
          <a:xfrm>
            <a:off x="5897880" y="4169664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4436BFC-5431-EFEA-4355-E9223904AA07}"/>
              </a:ext>
            </a:extLst>
          </p:cNvPr>
          <p:cNvSpPr txBox="1"/>
          <p:nvPr/>
        </p:nvSpPr>
        <p:spPr>
          <a:xfrm>
            <a:off x="5961888" y="4251960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Brute force / HashMap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EAE8700-34CB-7450-8D12-10A9938814F8}"/>
              </a:ext>
            </a:extLst>
          </p:cNvPr>
          <p:cNvSpPr/>
          <p:nvPr/>
        </p:nvSpPr>
        <p:spPr>
          <a:xfrm>
            <a:off x="8823960" y="4169664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52C87B7-1136-BD14-2645-B32229FAC17A}"/>
              </a:ext>
            </a:extLst>
          </p:cNvPr>
          <p:cNvSpPr txBox="1"/>
          <p:nvPr/>
        </p:nvSpPr>
        <p:spPr>
          <a:xfrm>
            <a:off x="8887968" y="4251960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Simpler options exist, but they are not spatially specialized.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7CAF1D5-C7CB-DD8A-1D3A-A8A5B37E8992}"/>
              </a:ext>
            </a:extLst>
          </p:cNvPr>
          <p:cNvSpPr/>
          <p:nvPr/>
        </p:nvSpPr>
        <p:spPr>
          <a:xfrm>
            <a:off x="594360" y="4736592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71CA5E-FAA9-0800-0E80-C4D81956113F}"/>
              </a:ext>
            </a:extLst>
          </p:cNvPr>
          <p:cNvSpPr txBox="1"/>
          <p:nvPr/>
        </p:nvSpPr>
        <p:spPr>
          <a:xfrm>
            <a:off x="658368" y="4818888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Reason for selecting proposed approach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B1FDF35-D0F7-38CF-E598-52ABB3896816}"/>
              </a:ext>
            </a:extLst>
          </p:cNvPr>
          <p:cNvSpPr/>
          <p:nvPr/>
        </p:nvSpPr>
        <p:spPr>
          <a:xfrm>
            <a:off x="2834640" y="4736592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DD88D90-DFF1-97BA-E44C-77353FDAC9E2}"/>
              </a:ext>
            </a:extLst>
          </p:cNvPr>
          <p:cNvSpPr txBox="1"/>
          <p:nvPr/>
        </p:nvSpPr>
        <p:spPr>
          <a:xfrm>
            <a:off x="2898648" y="4818888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Reduce unnecessary spatial comparisons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5ABA069-5C41-7017-F336-7E35281218B3}"/>
              </a:ext>
            </a:extLst>
          </p:cNvPr>
          <p:cNvSpPr/>
          <p:nvPr/>
        </p:nvSpPr>
        <p:spPr>
          <a:xfrm>
            <a:off x="5897880" y="4736592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FBB23D2-9D89-3DD1-1A84-1398E9CCD8FD}"/>
              </a:ext>
            </a:extLst>
          </p:cNvPr>
          <p:cNvSpPr txBox="1"/>
          <p:nvPr/>
        </p:nvSpPr>
        <p:spPr>
          <a:xfrm>
            <a:off x="5961888" y="4818888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Query-specific spatial indexing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21F6ECF-B08C-4DB9-3DFF-48D2847FFCCE}"/>
              </a:ext>
            </a:extLst>
          </p:cNvPr>
          <p:cNvSpPr/>
          <p:nvPr/>
        </p:nvSpPr>
        <p:spPr>
          <a:xfrm>
            <a:off x="8823960" y="4736592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405047D-C227-EDF4-0FE5-296468ABBC04}"/>
              </a:ext>
            </a:extLst>
          </p:cNvPr>
          <p:cNvSpPr txBox="1"/>
          <p:nvPr/>
        </p:nvSpPr>
        <p:spPr>
          <a:xfrm>
            <a:off x="8887968" y="4818888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Locality allows irrelevant points to be pruned or avoided.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318FFBA-1B2F-DAEE-1804-618B5CDEE4CF}"/>
              </a:ext>
            </a:extLst>
          </p:cNvPr>
          <p:cNvSpPr/>
          <p:nvPr/>
        </p:nvSpPr>
        <p:spPr>
          <a:xfrm>
            <a:off x="594360" y="5303520"/>
            <a:ext cx="22402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0B1474D-1F88-36DA-856B-87F31A258AE0}"/>
              </a:ext>
            </a:extLst>
          </p:cNvPr>
          <p:cNvSpPr txBox="1"/>
          <p:nvPr/>
        </p:nvSpPr>
        <p:spPr>
          <a:xfrm>
            <a:off x="658368" y="5385816"/>
            <a:ext cx="21122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1">
                <a:solidFill>
                  <a:srgbClr val="EBF5FA"/>
                </a:solidFill>
                <a:latin typeface="Aptos"/>
              </a:rPr>
              <a:t>Expected computational advantage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BF38855-1BA0-BE6D-3E0B-5E813869688A}"/>
              </a:ext>
            </a:extLst>
          </p:cNvPr>
          <p:cNvSpPr/>
          <p:nvPr/>
        </p:nvSpPr>
        <p:spPr>
          <a:xfrm>
            <a:off x="2834640" y="5303520"/>
            <a:ext cx="306324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360D7DB-B4F0-30D4-5E52-EBBD43FB03A7}"/>
              </a:ext>
            </a:extLst>
          </p:cNvPr>
          <p:cNvSpPr txBox="1"/>
          <p:nvPr/>
        </p:nvSpPr>
        <p:spPr>
          <a:xfrm>
            <a:off x="2898648" y="5385816"/>
            <a:ext cx="293522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Scale better than checking every pair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4993C33-46EE-2820-E3B3-FAE2B53E38B8}"/>
              </a:ext>
            </a:extLst>
          </p:cNvPr>
          <p:cNvSpPr/>
          <p:nvPr/>
        </p:nvSpPr>
        <p:spPr>
          <a:xfrm>
            <a:off x="5897880" y="5303520"/>
            <a:ext cx="292608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565126F-DC3C-84F8-2AD6-4D1646C9D9FC}"/>
              </a:ext>
            </a:extLst>
          </p:cNvPr>
          <p:cNvSpPr txBox="1"/>
          <p:nvPr/>
        </p:nvSpPr>
        <p:spPr>
          <a:xfrm>
            <a:off x="5961888" y="5385816"/>
            <a:ext cx="279806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FFAA46"/>
                </a:solidFill>
                <a:latin typeface="Aptos"/>
              </a:rPr>
              <a:t>Spatial indexing + broad phase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29AA28B-B67F-C4EE-6B54-E2A8C7EA9F25}"/>
              </a:ext>
            </a:extLst>
          </p:cNvPr>
          <p:cNvSpPr/>
          <p:nvPr/>
        </p:nvSpPr>
        <p:spPr>
          <a:xfrm>
            <a:off x="8823960" y="5303520"/>
            <a:ext cx="2743200" cy="566928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E48631D-7A37-21BE-FA25-5D6E967882B3}"/>
              </a:ext>
            </a:extLst>
          </p:cNvPr>
          <p:cNvSpPr txBox="1"/>
          <p:nvPr/>
        </p:nvSpPr>
        <p:spPr>
          <a:xfrm>
            <a:off x="8887968" y="5385816"/>
            <a:ext cx="2615184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69" b="0">
                <a:solidFill>
                  <a:srgbClr val="EBF5FA"/>
                </a:solidFill>
                <a:latin typeface="Aptos"/>
              </a:rPr>
              <a:t>Naïve collision checking is O(n²); targeted searches can reduce work.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0C6023B-3697-7A20-22CB-5BE05EFDA716}"/>
              </a:ext>
            </a:extLst>
          </p:cNvPr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5430BF0-D7B8-C4CB-95B8-75BCEA0AA3F8}"/>
              </a:ext>
            </a:extLst>
          </p:cNvPr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1">
                <a:solidFill>
                  <a:srgbClr val="30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41148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CABBE"/>
                </a:solidFill>
                <a:latin typeface="Aptos"/>
              </a:rPr>
              <a:t>End-to-end monitoring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Cascadia Mono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1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ID, position,
velocity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79" y="17922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4630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15544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2 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677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HashMap
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17922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4630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3 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677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KD-Tree +
Quad Tree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17922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4630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5544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4 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677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Advance by
Δt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204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5 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251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Nearest /
range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79" y="38496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74720" y="35204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0439" y="36118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6  Detect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3251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Sweep Line +
distance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38496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55080" y="35204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6118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7  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251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No-fly-zone
check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3849624"/>
            <a:ext cx="457200" cy="0"/>
          </a:xfrm>
          <a:prstGeom prst="line">
            <a:avLst/>
          </a:prstGeom>
          <a:ln w="15240">
            <a:solidFill>
              <a:srgbClr val="2D3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35440" y="3520440"/>
            <a:ext cx="2331720" cy="658368"/>
          </a:xfrm>
          <a:prstGeom prst="roundRect">
            <a:avLst/>
          </a:prstGeom>
          <a:solidFill>
            <a:srgbClr val="0F1724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3611880"/>
            <a:ext cx="22402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6FC"/>
                </a:solidFill>
                <a:latin typeface="Aptos"/>
              </a:rPr>
              <a:t>8 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3251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0">
                <a:solidFill>
                  <a:srgbClr val="9CABBE"/>
                </a:solidFill>
                <a:latin typeface="Aptos"/>
              </a:rPr>
              <a:t>Collision /
zone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Aptos"/>
              </a:rPr>
              <a:t>Continuous loop: update → query → detect → alert → repeat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BBE"/>
                </a:solidFill>
                <a:latin typeface="Cascadia Mono"/>
              </a:rPr>
              <a:t>REAL-TIME DRONE AIRSPACE MONITORING • DSA-2 CAPSTONE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D4FF"/>
                </a:solidFill>
                <a:latin typeface="Cascadia Mono"/>
              </a:rPr>
              <a:t>SKYSHIELD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Algorithm &amp; Pseudocode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41148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CABBE"/>
                </a:solidFill>
                <a:latin typeface="Aptos"/>
              </a:rPr>
              <a:t>Core algorithm: 3D KD-Tree nearest-neighbor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Cascadia Mono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91840" cy="123444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5720" cy="123444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47088"/>
            <a:ext cx="29718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9CABBE"/>
                </a:solidFill>
                <a:latin typeface="Aptos"/>
              </a:rPr>
              <a:t>Return the closest drone to target (tx,ty,tz).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291840" cy="123444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45720" cy="1234440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4904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847088"/>
            <a:ext cx="29718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9CABBE"/>
                </a:solidFill>
                <a:latin typeface="Aptos"/>
              </a:rPr>
              <a:t>KD-Tree root + target coordinates.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840480" cy="123444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371600"/>
            <a:ext cx="45720" cy="12344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847088"/>
            <a:ext cx="35204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9CABBE"/>
                </a:solidFill>
                <a:latin typeface="Aptos"/>
              </a:rPr>
              <a:t>Nearest Drone, or null if empty.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80360"/>
            <a:ext cx="5669280" cy="2880360"/>
          </a:xfrm>
          <a:prstGeom prst="roundRect">
            <a:avLst/>
          </a:prstGeom>
          <a:solidFill>
            <a:srgbClr val="04080E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2971800"/>
            <a:ext cx="5449824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>
                <a:solidFill>
                  <a:srgbClr val="CEDCEB"/>
                </a:solidFill>
                <a:latin typeface="Cascadia Mono"/>
              </a:rPr>
              <a:t>Nearest(node, target):
  if node == null: return
  d = distance3D(node.drone, target)
  if d &lt; bestDist:
      bestDist = d
      bestNode = node.drone
  choose near child using split axis
  search near child
  if |targetAxis - nodeAxis| &lt; bestDist:
      search far child   // prune only when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scadia Mono"/>
              </a:rPr>
              <a:t>EXECUTION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10128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10">
                <a:solidFill>
                  <a:srgbClr val="F0F6FC"/>
                </a:solidFill>
                <a:latin typeface="Aptos"/>
              </a:defRPr>
            </a:pPr>
            <a:r>
              <a:t>• Axes cycle X → Y → Z by tree depth.</a:t>
            </a:r>
          </a:p>
          <a:p>
            <a:pPr>
              <a:spcAft>
                <a:spcPts val="500"/>
              </a:spcAft>
              <a:defRPr sz="1310">
                <a:solidFill>
                  <a:srgbClr val="F0F6FC"/>
                </a:solidFill>
                <a:latin typeface="Aptos"/>
              </a:defRPr>
            </a:pPr>
            <a:r>
              <a:t>• Search the likely-near branch first.</a:t>
            </a:r>
          </a:p>
          <a:p>
            <a:pPr>
              <a:spcAft>
                <a:spcPts val="500"/>
              </a:spcAft>
              <a:defRPr sz="1310">
                <a:solidFill>
                  <a:srgbClr val="F0F6FC"/>
                </a:solidFill>
                <a:latin typeface="Aptos"/>
              </a:defRPr>
            </a:pPr>
            <a:r>
              <a:t>• Visit the far branch only when its splitting plane could contain a closer point.</a:t>
            </a:r>
          </a:p>
          <a:p>
            <a:pPr>
              <a:spcAft>
                <a:spcPts val="500"/>
              </a:spcAft>
              <a:defRPr sz="1310">
                <a:solidFill>
                  <a:srgbClr val="F0F6FC"/>
                </a:solidFill>
                <a:latin typeface="Aptos"/>
              </a:defRPr>
            </a:pPr>
            <a:r>
              <a:t>• Pruning is the key advantage over scanning every drone.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BBE"/>
                </a:solidFill>
                <a:latin typeface="Cascadia Mono"/>
              </a:rPr>
              <a:t>REAL-TIME DRONE AIRSPACE MONITORING • DSA-2 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D4FF"/>
                </a:solidFill>
                <a:latin typeface="Cascadia Mono"/>
              </a:rPr>
              <a:t>SKYSHIELD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>
            <a:extLst>
              <a:ext uri="{FF2B5EF4-FFF2-40B4-BE49-F238E27FC236}">
                <a16:creationId xmlns:a16="http://schemas.microsoft.com/office/drawing/2014/main" id="{0DC562FA-B2A9-DC2E-AB55-46234D93823A}"/>
              </a:ext>
            </a:extLst>
          </p:cNvPr>
          <p:cNvSpPr txBox="1"/>
          <p:nvPr/>
        </p:nvSpPr>
        <p:spPr>
          <a:xfrm>
            <a:off x="594360" y="292608"/>
            <a:ext cx="2534284" cy="455509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2600" b="1">
                <a:solidFill>
                  <a:schemeClr val="bg2"/>
                </a:solidFill>
                <a:latin typeface="Aptos"/>
              </a:rPr>
              <a:t>Implementation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58DD56-853E-034B-5BED-5417C07409AF}"/>
              </a:ext>
            </a:extLst>
          </p:cNvPr>
          <p:cNvSpPr txBox="1"/>
          <p:nvPr/>
        </p:nvSpPr>
        <p:spPr>
          <a:xfrm>
            <a:off x="594360" y="749808"/>
            <a:ext cx="2683170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chemeClr val="bg2"/>
                </a:solidFill>
                <a:latin typeface="Aptos"/>
              </a:rPr>
              <a:t>How the project is implemented in Java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0276003-9563-2FA5-721A-93CD9A7EFD0B}"/>
              </a:ext>
            </a:extLst>
          </p:cNvPr>
          <p:cNvSpPr txBox="1"/>
          <p:nvPr/>
        </p:nvSpPr>
        <p:spPr>
          <a:xfrm>
            <a:off x="11357041" y="384048"/>
            <a:ext cx="255839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/>
            <a:r>
              <a:rPr sz="1200" b="1">
                <a:solidFill>
                  <a:schemeClr val="bg2"/>
                </a:solidFill>
                <a:latin typeface="Aptos"/>
              </a:rPr>
              <a:t>10</a:t>
            </a:r>
          </a:p>
        </p:txBody>
      </p:sp>
      <p:sp>
        <p:nvSpPr>
          <p:cNvPr id="94" name="Rounded Rectangle 4">
            <a:extLst>
              <a:ext uri="{FF2B5EF4-FFF2-40B4-BE49-F238E27FC236}">
                <a16:creationId xmlns:a16="http://schemas.microsoft.com/office/drawing/2014/main" id="{90775A6E-4C4F-19F5-FE16-696F4FFCA89F}"/>
              </a:ext>
            </a:extLst>
          </p:cNvPr>
          <p:cNvSpPr/>
          <p:nvPr/>
        </p:nvSpPr>
        <p:spPr>
          <a:xfrm>
            <a:off x="502920" y="1234440"/>
            <a:ext cx="5349240" cy="9601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DEC15C0-8DAF-2B34-71FA-1EF2005B8F3B}"/>
              </a:ext>
            </a:extLst>
          </p:cNvPr>
          <p:cNvSpPr txBox="1"/>
          <p:nvPr/>
        </p:nvSpPr>
        <p:spPr>
          <a:xfrm>
            <a:off x="667512" y="1353312"/>
            <a:ext cx="2205284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1. PROGRAMMING LANGUAGE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3E10AAF-0E50-2DB9-D6C8-008F8151DAA9}"/>
              </a:ext>
            </a:extLst>
          </p:cNvPr>
          <p:cNvSpPr txBox="1"/>
          <p:nvPr/>
        </p:nvSpPr>
        <p:spPr>
          <a:xfrm>
            <a:off x="667512" y="1691640"/>
            <a:ext cx="4234493" cy="21698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 dirty="0">
                <a:solidFill>
                  <a:schemeClr val="bg2"/>
                </a:solidFill>
                <a:latin typeface="Aptos"/>
              </a:rPr>
              <a:t>Java — object-oriented implementation of the drone monitoring system.</a:t>
            </a:r>
          </a:p>
        </p:txBody>
      </p:sp>
      <p:sp>
        <p:nvSpPr>
          <p:cNvPr id="100" name="Rounded Rectangle 7">
            <a:extLst>
              <a:ext uri="{FF2B5EF4-FFF2-40B4-BE49-F238E27FC236}">
                <a16:creationId xmlns:a16="http://schemas.microsoft.com/office/drawing/2014/main" id="{59B0CF6A-EE6E-9584-6F36-02F148583860}"/>
              </a:ext>
            </a:extLst>
          </p:cNvPr>
          <p:cNvSpPr/>
          <p:nvPr/>
        </p:nvSpPr>
        <p:spPr>
          <a:xfrm>
            <a:off x="502920" y="2359152"/>
            <a:ext cx="5349240" cy="9601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EB9DD1-28F4-DD33-38B4-47537CB03752}"/>
              </a:ext>
            </a:extLst>
          </p:cNvPr>
          <p:cNvSpPr txBox="1"/>
          <p:nvPr/>
        </p:nvSpPr>
        <p:spPr>
          <a:xfrm>
            <a:off x="667512" y="2478024"/>
            <a:ext cx="2411686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2. DEVELOPMENT ENVIRONMENT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149F41-ED5B-EDC9-4604-0B5BC1098D32}"/>
              </a:ext>
            </a:extLst>
          </p:cNvPr>
          <p:cNvSpPr txBox="1"/>
          <p:nvPr/>
        </p:nvSpPr>
        <p:spPr>
          <a:xfrm>
            <a:off x="667512" y="2816352"/>
            <a:ext cx="3394519" cy="21698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chemeClr val="bg2"/>
                </a:solidFill>
                <a:latin typeface="Aptos"/>
              </a:rPr>
              <a:t>Java runtime + Interactive Command-Line Interface (CLI).</a:t>
            </a:r>
          </a:p>
        </p:txBody>
      </p:sp>
      <p:sp>
        <p:nvSpPr>
          <p:cNvPr id="106" name="Rounded Rectangle 10">
            <a:extLst>
              <a:ext uri="{FF2B5EF4-FFF2-40B4-BE49-F238E27FC236}">
                <a16:creationId xmlns:a16="http://schemas.microsoft.com/office/drawing/2014/main" id="{86FF322F-EAE6-FBDE-FFF0-3E18D6A72948}"/>
              </a:ext>
            </a:extLst>
          </p:cNvPr>
          <p:cNvSpPr/>
          <p:nvPr/>
        </p:nvSpPr>
        <p:spPr>
          <a:xfrm>
            <a:off x="502920" y="3483864"/>
            <a:ext cx="5349240" cy="105156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B046F3C-9C34-B6B6-AB69-426D3A71DC2D}"/>
              </a:ext>
            </a:extLst>
          </p:cNvPr>
          <p:cNvSpPr txBox="1"/>
          <p:nvPr/>
        </p:nvSpPr>
        <p:spPr>
          <a:xfrm>
            <a:off x="667512" y="3602736"/>
            <a:ext cx="2141484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3. LIBRARIES / FRAMEWORKS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F3C885F-0C4E-3560-F027-E1F68370879B}"/>
              </a:ext>
            </a:extLst>
          </p:cNvPr>
          <p:cNvSpPr txBox="1"/>
          <p:nvPr/>
        </p:nvSpPr>
        <p:spPr>
          <a:xfrm>
            <a:off x="667512" y="3941064"/>
            <a:ext cx="2280432" cy="7017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 dirty="0">
                <a:solidFill>
                  <a:schemeClr val="bg2"/>
                </a:solidFill>
                <a:latin typeface="Aptos"/>
              </a:rPr>
              <a:t>Java Standard Collections Framework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• HashMap  </a:t>
            </a:r>
            <a:endParaRPr lang="en-IN" sz="1050" dirty="0">
              <a:solidFill>
                <a:schemeClr val="bg2"/>
              </a:solidFill>
            </a:endParaRPr>
          </a:p>
          <a:p>
            <a:pPr algn="l"/>
            <a:r>
              <a:rPr sz="1050" dirty="0">
                <a:solidFill>
                  <a:schemeClr val="bg2"/>
                </a:solidFill>
              </a:rPr>
              <a:t>• </a:t>
            </a:r>
            <a:r>
              <a:rPr sz="1050" dirty="0" err="1">
                <a:solidFill>
                  <a:schemeClr val="bg2"/>
                </a:solidFill>
              </a:rPr>
              <a:t>ArrayList</a:t>
            </a:r>
            <a:br>
              <a:rPr sz="1050" dirty="0">
                <a:solidFill>
                  <a:schemeClr val="bg2"/>
                </a:solidFill>
              </a:rPr>
            </a:br>
            <a:endParaRPr sz="1050" dirty="0">
              <a:solidFill>
                <a:schemeClr val="bg2"/>
              </a:solidFill>
            </a:endParaRPr>
          </a:p>
        </p:txBody>
      </p:sp>
      <p:sp>
        <p:nvSpPr>
          <p:cNvPr id="112" name="Rounded Rectangle 13">
            <a:extLst>
              <a:ext uri="{FF2B5EF4-FFF2-40B4-BE49-F238E27FC236}">
                <a16:creationId xmlns:a16="http://schemas.microsoft.com/office/drawing/2014/main" id="{81E67B75-2052-C35F-2C3E-334F724A5730}"/>
              </a:ext>
            </a:extLst>
          </p:cNvPr>
          <p:cNvSpPr/>
          <p:nvPr/>
        </p:nvSpPr>
        <p:spPr>
          <a:xfrm>
            <a:off x="502920" y="4700016"/>
            <a:ext cx="5349240" cy="123444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0316920-B1C1-9791-6C29-D59392035593}"/>
              </a:ext>
            </a:extLst>
          </p:cNvPr>
          <p:cNvSpPr txBox="1"/>
          <p:nvPr/>
        </p:nvSpPr>
        <p:spPr>
          <a:xfrm>
            <a:off x="667512" y="4818888"/>
            <a:ext cx="2264787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4. MAJOR CLASSES / MODULES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0759BDA-4D51-1848-7759-0ACA8610DCD2}"/>
              </a:ext>
            </a:extLst>
          </p:cNvPr>
          <p:cNvSpPr txBox="1"/>
          <p:nvPr/>
        </p:nvSpPr>
        <p:spPr>
          <a:xfrm>
            <a:off x="667512" y="5157216"/>
            <a:ext cx="2758127" cy="378565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 dirty="0">
                <a:solidFill>
                  <a:schemeClr val="bg2"/>
                </a:solidFill>
                <a:latin typeface="Aptos"/>
              </a:rPr>
              <a:t>Drone • </a:t>
            </a:r>
            <a:r>
              <a:rPr sz="1050" b="0" dirty="0" err="1">
                <a:solidFill>
                  <a:schemeClr val="bg2"/>
                </a:solidFill>
                <a:latin typeface="Aptos"/>
              </a:rPr>
              <a:t>NoFlyZone</a:t>
            </a:r>
            <a:r>
              <a:rPr sz="1050" b="0" dirty="0">
                <a:solidFill>
                  <a:schemeClr val="bg2"/>
                </a:solidFill>
                <a:latin typeface="Aptos"/>
              </a:rPr>
              <a:t> • </a:t>
            </a:r>
            <a:r>
              <a:rPr sz="1050" b="0" dirty="0" err="1">
                <a:solidFill>
                  <a:schemeClr val="bg2"/>
                </a:solidFill>
                <a:latin typeface="Aptos"/>
              </a:rPr>
              <a:t>KDTree</a:t>
            </a:r>
            <a:r>
              <a:rPr sz="1050" b="0" dirty="0">
                <a:solidFill>
                  <a:schemeClr val="bg2"/>
                </a:solidFill>
                <a:latin typeface="Aptos"/>
              </a:rPr>
              <a:t> / </a:t>
            </a:r>
            <a:r>
              <a:rPr sz="1050" b="0" dirty="0" err="1">
                <a:solidFill>
                  <a:schemeClr val="bg2"/>
                </a:solidFill>
                <a:latin typeface="Aptos"/>
              </a:rPr>
              <a:t>KDNode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 err="1">
                <a:solidFill>
                  <a:schemeClr val="bg2"/>
                </a:solidFill>
              </a:rPr>
              <a:t>QuadTree</a:t>
            </a:r>
            <a:r>
              <a:rPr sz="1050" dirty="0">
                <a:solidFill>
                  <a:schemeClr val="bg2"/>
                </a:solidFill>
              </a:rPr>
              <a:t> • </a:t>
            </a:r>
            <a:r>
              <a:rPr sz="1050" dirty="0" err="1">
                <a:solidFill>
                  <a:schemeClr val="bg2"/>
                </a:solidFill>
              </a:rPr>
              <a:t>SweepLineAlgorithm</a:t>
            </a:r>
            <a:r>
              <a:rPr sz="1050" dirty="0">
                <a:solidFill>
                  <a:schemeClr val="bg2"/>
                </a:solidFill>
              </a:rPr>
              <a:t> • </a:t>
            </a:r>
            <a:r>
              <a:rPr sz="1050" dirty="0" err="1">
                <a:solidFill>
                  <a:schemeClr val="bg2"/>
                </a:solidFill>
              </a:rPr>
              <a:t>DroneSystem</a:t>
            </a:r>
            <a:endParaRPr sz="1050" dirty="0">
              <a:solidFill>
                <a:schemeClr val="bg2"/>
              </a:solidFill>
            </a:endParaRPr>
          </a:p>
        </p:txBody>
      </p:sp>
      <p:sp>
        <p:nvSpPr>
          <p:cNvPr id="118" name="Rounded Rectangle 16">
            <a:extLst>
              <a:ext uri="{FF2B5EF4-FFF2-40B4-BE49-F238E27FC236}">
                <a16:creationId xmlns:a16="http://schemas.microsoft.com/office/drawing/2014/main" id="{C6DBDF0A-A956-AD3B-EECC-33A67EF2D1E3}"/>
              </a:ext>
            </a:extLst>
          </p:cNvPr>
          <p:cNvSpPr/>
          <p:nvPr/>
        </p:nvSpPr>
        <p:spPr>
          <a:xfrm>
            <a:off x="6126480" y="1234440"/>
            <a:ext cx="5440680" cy="150876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EFE30C0-9710-53BC-0179-04DF5DB7A9EA}"/>
              </a:ext>
            </a:extLst>
          </p:cNvPr>
          <p:cNvSpPr txBox="1"/>
          <p:nvPr/>
        </p:nvSpPr>
        <p:spPr>
          <a:xfrm>
            <a:off x="6291072" y="1353312"/>
            <a:ext cx="2793906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5. DATA STRUCTURE IMPLEMENTATION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0BED1AD-B6A6-A212-FC1A-64F18A691798}"/>
              </a:ext>
            </a:extLst>
          </p:cNvPr>
          <p:cNvSpPr txBox="1"/>
          <p:nvPr/>
        </p:nvSpPr>
        <p:spPr>
          <a:xfrm>
            <a:off x="6291072" y="1691640"/>
            <a:ext cx="2982548" cy="7017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 dirty="0">
                <a:solidFill>
                  <a:schemeClr val="bg2"/>
                </a:solidFill>
                <a:latin typeface="Aptos"/>
              </a:rPr>
              <a:t>HashMap&lt;String, Drone&gt; → drone ID management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 err="1">
                <a:solidFill>
                  <a:schemeClr val="bg2"/>
                </a:solidFill>
              </a:rPr>
              <a:t>ArrayList</a:t>
            </a:r>
            <a:r>
              <a:rPr sz="1050" dirty="0">
                <a:solidFill>
                  <a:schemeClr val="bg2"/>
                </a:solidFill>
              </a:rPr>
              <a:t> → zones and Sweep Line active set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KD-Tree → 3D spatial indexing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Quad Tree → 2D spatial indexing</a:t>
            </a:r>
          </a:p>
        </p:txBody>
      </p:sp>
      <p:sp>
        <p:nvSpPr>
          <p:cNvPr id="124" name="Rounded Rectangle 19">
            <a:extLst>
              <a:ext uri="{FF2B5EF4-FFF2-40B4-BE49-F238E27FC236}">
                <a16:creationId xmlns:a16="http://schemas.microsoft.com/office/drawing/2014/main" id="{1B762DC8-7158-AFC3-751B-702994664B3B}"/>
              </a:ext>
            </a:extLst>
          </p:cNvPr>
          <p:cNvSpPr/>
          <p:nvPr/>
        </p:nvSpPr>
        <p:spPr>
          <a:xfrm>
            <a:off x="6126480" y="2944368"/>
            <a:ext cx="5440680" cy="141732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ABCC62C-FC50-E63B-D0D4-04C2A7542DD0}"/>
              </a:ext>
            </a:extLst>
          </p:cNvPr>
          <p:cNvSpPr txBox="1"/>
          <p:nvPr/>
        </p:nvSpPr>
        <p:spPr>
          <a:xfrm>
            <a:off x="6291072" y="3063240"/>
            <a:ext cx="2404697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6. ALGORITHM IMPLEMENTATION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0AC64E-53DB-2789-C5C7-4B440E0564C8}"/>
              </a:ext>
            </a:extLst>
          </p:cNvPr>
          <p:cNvSpPr txBox="1"/>
          <p:nvPr/>
        </p:nvSpPr>
        <p:spPr>
          <a:xfrm>
            <a:off x="6291072" y="3401568"/>
            <a:ext cx="2889574" cy="7017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050" b="0" dirty="0">
                <a:solidFill>
                  <a:schemeClr val="bg2"/>
                </a:solidFill>
                <a:latin typeface="Aptos"/>
              </a:rPr>
              <a:t>Euclidean 3D distance → proximity / zone checks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KD-Tree nearest-neighbor → spatial pruning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Quad Tree range query → localized search</a:t>
            </a:r>
            <a:br>
              <a:rPr sz="1050" dirty="0">
                <a:solidFill>
                  <a:schemeClr val="bg2"/>
                </a:solidFill>
              </a:rPr>
            </a:br>
            <a:r>
              <a:rPr sz="1050" dirty="0">
                <a:solidFill>
                  <a:schemeClr val="bg2"/>
                </a:solidFill>
              </a:rPr>
              <a:t>Sweep Line → collision broad phase</a:t>
            </a:r>
          </a:p>
        </p:txBody>
      </p:sp>
      <p:sp>
        <p:nvSpPr>
          <p:cNvPr id="130" name="Rounded Rectangle 22">
            <a:extLst>
              <a:ext uri="{FF2B5EF4-FFF2-40B4-BE49-F238E27FC236}">
                <a16:creationId xmlns:a16="http://schemas.microsoft.com/office/drawing/2014/main" id="{22D8BFAD-C505-9829-F0F9-7F551356964B}"/>
              </a:ext>
            </a:extLst>
          </p:cNvPr>
          <p:cNvSpPr/>
          <p:nvPr/>
        </p:nvSpPr>
        <p:spPr>
          <a:xfrm>
            <a:off x="6126480" y="4562856"/>
            <a:ext cx="5440680" cy="137160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A609AEA-7218-E436-D306-51E14E340AAE}"/>
              </a:ext>
            </a:extLst>
          </p:cNvPr>
          <p:cNvSpPr txBox="1"/>
          <p:nvPr/>
        </p:nvSpPr>
        <p:spPr>
          <a:xfrm>
            <a:off x="6291072" y="4681728"/>
            <a:ext cx="2990306" cy="24006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chemeClr val="bg2"/>
                </a:solidFill>
                <a:latin typeface="Aptos"/>
              </a:rPr>
              <a:t>7. IMPORTANT IMPLEMENTATION DETAILS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C98E2B6-B0E1-9411-2451-86939B146D9B}"/>
              </a:ext>
            </a:extLst>
          </p:cNvPr>
          <p:cNvSpPr txBox="1"/>
          <p:nvPr/>
        </p:nvSpPr>
        <p:spPr>
          <a:xfrm>
            <a:off x="6291072" y="5020056"/>
            <a:ext cx="2475999" cy="5401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lang="en-IN" sz="1050" b="0" dirty="0">
                <a:solidFill>
                  <a:schemeClr val="bg2"/>
                </a:solidFill>
                <a:latin typeface="Aptos"/>
              </a:rPr>
              <a:t>Trajectory: x += </a:t>
            </a:r>
            <a:r>
              <a:rPr lang="en-IN" sz="1050" b="0" dirty="0" err="1">
                <a:solidFill>
                  <a:schemeClr val="bg2"/>
                </a:solidFill>
                <a:latin typeface="Aptos"/>
              </a:rPr>
              <a:t>vx·dt</a:t>
            </a:r>
            <a:r>
              <a:rPr lang="en-IN" sz="1050" b="0" dirty="0">
                <a:solidFill>
                  <a:schemeClr val="bg2"/>
                </a:solidFill>
                <a:latin typeface="Aptos"/>
              </a:rPr>
              <a:t>, y += </a:t>
            </a:r>
            <a:r>
              <a:rPr lang="en-IN" sz="1050" b="0" dirty="0" err="1">
                <a:solidFill>
                  <a:schemeClr val="bg2"/>
                </a:solidFill>
                <a:latin typeface="Aptos"/>
              </a:rPr>
              <a:t>vy·dt</a:t>
            </a:r>
            <a:r>
              <a:rPr lang="en-IN" sz="1050" b="0" dirty="0">
                <a:solidFill>
                  <a:schemeClr val="bg2"/>
                </a:solidFill>
                <a:latin typeface="Aptos"/>
              </a:rPr>
              <a:t>, z += </a:t>
            </a:r>
            <a:r>
              <a:rPr lang="en-IN" sz="1050" b="0" dirty="0" err="1">
                <a:solidFill>
                  <a:schemeClr val="bg2"/>
                </a:solidFill>
                <a:latin typeface="Aptos"/>
              </a:rPr>
              <a:t>vz·dt</a:t>
            </a:r>
            <a:br>
              <a:rPr lang="en-IN" sz="1050" dirty="0">
                <a:solidFill>
                  <a:schemeClr val="bg2"/>
                </a:solidFill>
              </a:rPr>
            </a:br>
            <a:r>
              <a:rPr lang="en-IN" sz="1050" dirty="0">
                <a:solidFill>
                  <a:schemeClr val="bg2"/>
                </a:solidFill>
              </a:rPr>
              <a:t>KD axes: X → Y → Z by depth</a:t>
            </a:r>
            <a:br>
              <a:rPr lang="en-IN" sz="1050" dirty="0">
                <a:solidFill>
                  <a:schemeClr val="bg2"/>
                </a:solidFill>
              </a:rPr>
            </a:br>
            <a:r>
              <a:rPr lang="en-IN" sz="1050" dirty="0">
                <a:solidFill>
                  <a:schemeClr val="bg2"/>
                </a:solidFill>
              </a:rPr>
              <a:t>Collision: distance ≤ sum of radii</a:t>
            </a:r>
            <a:endParaRPr sz="1050" dirty="0">
              <a:solidFill>
                <a:schemeClr val="bg2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283697-19B2-D0D0-05B6-D8E80FE39825}"/>
              </a:ext>
            </a:extLst>
          </p:cNvPr>
          <p:cNvSpPr txBox="1"/>
          <p:nvPr/>
        </p:nvSpPr>
        <p:spPr>
          <a:xfrm>
            <a:off x="3608449" y="6153912"/>
            <a:ext cx="4944622" cy="20928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chemeClr val="bg2"/>
                </a:solidFill>
                <a:latin typeface="Aptos"/>
              </a:rPr>
              <a:t>CORE FLOW: Store → Build spatial index → Update trajectory → Query → Detect → Alert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809BD73-EA4F-18AC-D3C8-D434ED07081E}"/>
              </a:ext>
            </a:extLst>
          </p:cNvPr>
          <p:cNvSpPr txBox="1"/>
          <p:nvPr/>
        </p:nvSpPr>
        <p:spPr>
          <a:xfrm>
            <a:off x="594360" y="6473952"/>
            <a:ext cx="3037050" cy="17851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l"/>
            <a:r>
              <a:rPr sz="800" b="1">
                <a:solidFill>
                  <a:schemeClr val="bg2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7229083-833C-7BC9-785A-1D94A62E8C6C}"/>
              </a:ext>
            </a:extLst>
          </p:cNvPr>
          <p:cNvSpPr txBox="1"/>
          <p:nvPr/>
        </p:nvSpPr>
        <p:spPr>
          <a:xfrm>
            <a:off x="10892102" y="6473952"/>
            <a:ext cx="629338" cy="17851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/>
            <a:r>
              <a:rPr sz="800" b="1">
                <a:solidFill>
                  <a:schemeClr val="bg2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A559EC9-9309-8171-6459-A73556EE6FF5}"/>
              </a:ext>
            </a:extLst>
          </p:cNvPr>
          <p:cNvSpPr txBox="1"/>
          <p:nvPr/>
        </p:nvSpPr>
        <p:spPr>
          <a:xfrm>
            <a:off x="594360" y="320040"/>
            <a:ext cx="6583680" cy="4114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EBF5FA"/>
                </a:solidFill>
                <a:latin typeface="Aptos"/>
              </a:rPr>
              <a:t>Complexity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C3A09B-85D1-A7D3-0D70-CCC94D256CF4}"/>
              </a:ext>
            </a:extLst>
          </p:cNvPr>
          <p:cNvSpPr txBox="1"/>
          <p:nvPr/>
        </p:nvSpPr>
        <p:spPr>
          <a:xfrm>
            <a:off x="594360" y="749808"/>
            <a:ext cx="8686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9BB4C3"/>
                </a:solidFill>
                <a:latin typeface="Aptos"/>
              </a:rPr>
              <a:t>Time and space complexity of the implemented data structures and algorithms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8B28E-3DD9-62C4-E74C-BC007C3133E2}"/>
              </a:ext>
            </a:extLst>
          </p:cNvPr>
          <p:cNvSpPr txBox="1"/>
          <p:nvPr/>
        </p:nvSpPr>
        <p:spPr>
          <a:xfrm>
            <a:off x="10972800" y="384048"/>
            <a:ext cx="64008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30D2DC"/>
                </a:solidFill>
                <a:latin typeface="Aptos"/>
              </a:rPr>
              <a:t>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D36C32-BBD3-AB6F-A656-891EE1DA63CC}"/>
              </a:ext>
            </a:extLst>
          </p:cNvPr>
          <p:cNvSpPr/>
          <p:nvPr/>
        </p:nvSpPr>
        <p:spPr>
          <a:xfrm>
            <a:off x="594360" y="1325880"/>
            <a:ext cx="2057400" cy="438912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3FA23F-30EB-F7CB-8EFA-303E5FBAB8EB}"/>
              </a:ext>
            </a:extLst>
          </p:cNvPr>
          <p:cNvSpPr txBox="1"/>
          <p:nvPr/>
        </p:nvSpPr>
        <p:spPr>
          <a:xfrm>
            <a:off x="621792" y="1380744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Operation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89A713-3639-42F4-411D-14E33DE2D75F}"/>
              </a:ext>
            </a:extLst>
          </p:cNvPr>
          <p:cNvSpPr/>
          <p:nvPr/>
        </p:nvSpPr>
        <p:spPr>
          <a:xfrm>
            <a:off x="2651760" y="1325880"/>
            <a:ext cx="1234440" cy="438912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13CE51-EFA8-EA33-1824-1DBB9C4B2029}"/>
              </a:ext>
            </a:extLst>
          </p:cNvPr>
          <p:cNvSpPr txBox="1"/>
          <p:nvPr/>
        </p:nvSpPr>
        <p:spPr>
          <a:xfrm>
            <a:off x="2679191" y="1380744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Best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5BF0FA-FD38-4C7E-3365-ADF370CC7950}"/>
              </a:ext>
            </a:extLst>
          </p:cNvPr>
          <p:cNvSpPr/>
          <p:nvPr/>
        </p:nvSpPr>
        <p:spPr>
          <a:xfrm>
            <a:off x="3886200" y="1325880"/>
            <a:ext cx="1417320" cy="438912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39B17B-C01B-11A3-ADB2-2535924ED5DF}"/>
              </a:ext>
            </a:extLst>
          </p:cNvPr>
          <p:cNvSpPr txBox="1"/>
          <p:nvPr/>
        </p:nvSpPr>
        <p:spPr>
          <a:xfrm>
            <a:off x="3913632" y="1380744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Average Case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28F7F8-AE25-8B36-CED0-9D259F7D8D9F}"/>
              </a:ext>
            </a:extLst>
          </p:cNvPr>
          <p:cNvSpPr/>
          <p:nvPr/>
        </p:nvSpPr>
        <p:spPr>
          <a:xfrm>
            <a:off x="5303520" y="1325880"/>
            <a:ext cx="1234440" cy="438912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F0B89A-F9DA-0679-1B75-91C3F740431C}"/>
              </a:ext>
            </a:extLst>
          </p:cNvPr>
          <p:cNvSpPr txBox="1"/>
          <p:nvPr/>
        </p:nvSpPr>
        <p:spPr>
          <a:xfrm>
            <a:off x="5330952" y="1380744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Worst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A3A4C9-E1E5-4734-670A-32A9013EF2BC}"/>
              </a:ext>
            </a:extLst>
          </p:cNvPr>
          <p:cNvSpPr/>
          <p:nvPr/>
        </p:nvSpPr>
        <p:spPr>
          <a:xfrm>
            <a:off x="6537960" y="1325880"/>
            <a:ext cx="1143000" cy="438912"/>
          </a:xfrm>
          <a:prstGeom prst="rect">
            <a:avLst/>
          </a:prstGeom>
          <a:solidFill>
            <a:srgbClr val="30D2DC"/>
          </a:solidFill>
          <a:ln>
            <a:solidFill>
              <a:srgbClr val="081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48C631-C40D-9A98-67A1-7FB8219C602D}"/>
              </a:ext>
            </a:extLst>
          </p:cNvPr>
          <p:cNvSpPr txBox="1"/>
          <p:nvPr/>
        </p:nvSpPr>
        <p:spPr>
          <a:xfrm>
            <a:off x="6565392" y="1380744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08121E"/>
                </a:solidFill>
                <a:latin typeface="Aptos"/>
              </a:rPr>
              <a:t>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59DD5-C64A-B062-528C-15AED05703EF}"/>
              </a:ext>
            </a:extLst>
          </p:cNvPr>
          <p:cNvSpPr/>
          <p:nvPr/>
        </p:nvSpPr>
        <p:spPr>
          <a:xfrm>
            <a:off x="594360" y="1764792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49AFDE-FE60-47B3-A155-005AA6827392}"/>
              </a:ext>
            </a:extLst>
          </p:cNvPr>
          <p:cNvSpPr txBox="1"/>
          <p:nvPr/>
        </p:nvSpPr>
        <p:spPr>
          <a:xfrm>
            <a:off x="621792" y="1828800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HashMap ID lookup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2EBD5C-E0E5-AA1D-07AA-EE8C91FF26DF}"/>
              </a:ext>
            </a:extLst>
          </p:cNvPr>
          <p:cNvSpPr/>
          <p:nvPr/>
        </p:nvSpPr>
        <p:spPr>
          <a:xfrm>
            <a:off x="2651760" y="1764792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5CFD73-FA30-08EA-B1A1-12791C575802}"/>
              </a:ext>
            </a:extLst>
          </p:cNvPr>
          <p:cNvSpPr txBox="1"/>
          <p:nvPr/>
        </p:nvSpPr>
        <p:spPr>
          <a:xfrm>
            <a:off x="2679191" y="1828800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O(1)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4286D8-4AAC-2AA2-0025-D249ACA050FA}"/>
              </a:ext>
            </a:extLst>
          </p:cNvPr>
          <p:cNvSpPr/>
          <p:nvPr/>
        </p:nvSpPr>
        <p:spPr>
          <a:xfrm>
            <a:off x="3886200" y="1764792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97BE8-DBE3-7E8D-FD80-482364FF0191}"/>
              </a:ext>
            </a:extLst>
          </p:cNvPr>
          <p:cNvSpPr txBox="1"/>
          <p:nvPr/>
        </p:nvSpPr>
        <p:spPr>
          <a:xfrm>
            <a:off x="3913632" y="1828800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O(1) avg.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EFBA4C-BAD9-7D3D-A5A4-0A383497BFD1}"/>
              </a:ext>
            </a:extLst>
          </p:cNvPr>
          <p:cNvSpPr/>
          <p:nvPr/>
        </p:nvSpPr>
        <p:spPr>
          <a:xfrm>
            <a:off x="5303520" y="1764792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62D00D-4692-7FB1-C4E1-302668D3A954}"/>
              </a:ext>
            </a:extLst>
          </p:cNvPr>
          <p:cNvSpPr txBox="1"/>
          <p:nvPr/>
        </p:nvSpPr>
        <p:spPr>
          <a:xfrm>
            <a:off x="5330952" y="1828800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8AC8ED-1455-9346-6CB6-CD9A461940D1}"/>
              </a:ext>
            </a:extLst>
          </p:cNvPr>
          <p:cNvSpPr/>
          <p:nvPr/>
        </p:nvSpPr>
        <p:spPr>
          <a:xfrm>
            <a:off x="6537960" y="1764792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25DA13-956F-17C7-D897-F02414F21DB6}"/>
              </a:ext>
            </a:extLst>
          </p:cNvPr>
          <p:cNvSpPr txBox="1"/>
          <p:nvPr/>
        </p:nvSpPr>
        <p:spPr>
          <a:xfrm>
            <a:off x="6565392" y="1828800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1D7FEDE-91B7-7351-C0F4-7D19D8E9F640}"/>
              </a:ext>
            </a:extLst>
          </p:cNvPr>
          <p:cNvSpPr/>
          <p:nvPr/>
        </p:nvSpPr>
        <p:spPr>
          <a:xfrm>
            <a:off x="594360" y="2203704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ACC7F7-558F-9F71-9EA8-896954559708}"/>
              </a:ext>
            </a:extLst>
          </p:cNvPr>
          <p:cNvSpPr txBox="1"/>
          <p:nvPr/>
        </p:nvSpPr>
        <p:spPr>
          <a:xfrm>
            <a:off x="621792" y="2267712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KD-Tree build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F2862B-DE7C-55C1-FE94-9ABC79D232ED}"/>
              </a:ext>
            </a:extLst>
          </p:cNvPr>
          <p:cNvSpPr/>
          <p:nvPr/>
        </p:nvSpPr>
        <p:spPr>
          <a:xfrm>
            <a:off x="2651760" y="2203704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3BA32B-D146-0959-DE95-6767AE497068}"/>
              </a:ext>
            </a:extLst>
          </p:cNvPr>
          <p:cNvSpPr txBox="1"/>
          <p:nvPr/>
        </p:nvSpPr>
        <p:spPr>
          <a:xfrm>
            <a:off x="2679191" y="2267712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 log²n)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7C2A71-E1DB-F38F-3CA9-41BB15E53AEF}"/>
              </a:ext>
            </a:extLst>
          </p:cNvPr>
          <p:cNvSpPr/>
          <p:nvPr/>
        </p:nvSpPr>
        <p:spPr>
          <a:xfrm>
            <a:off x="3886200" y="2203704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DA927C-F60E-F791-D452-BCB21662B76E}"/>
              </a:ext>
            </a:extLst>
          </p:cNvPr>
          <p:cNvSpPr txBox="1"/>
          <p:nvPr/>
        </p:nvSpPr>
        <p:spPr>
          <a:xfrm>
            <a:off x="3913632" y="2267712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 log²n)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FF74CA3-4373-6C72-E14E-819CA5F63F00}"/>
              </a:ext>
            </a:extLst>
          </p:cNvPr>
          <p:cNvSpPr/>
          <p:nvPr/>
        </p:nvSpPr>
        <p:spPr>
          <a:xfrm>
            <a:off x="5303520" y="2203704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302CCC-1AE7-D68B-A34F-FD2D4D29D382}"/>
              </a:ext>
            </a:extLst>
          </p:cNvPr>
          <p:cNvSpPr txBox="1"/>
          <p:nvPr/>
        </p:nvSpPr>
        <p:spPr>
          <a:xfrm>
            <a:off x="5330952" y="2267712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 log²n)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9863C50-71D4-DDCB-CE54-9B1D233EC3BD}"/>
              </a:ext>
            </a:extLst>
          </p:cNvPr>
          <p:cNvSpPr/>
          <p:nvPr/>
        </p:nvSpPr>
        <p:spPr>
          <a:xfrm>
            <a:off x="6537960" y="2203704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A8DD58-AABF-285B-7C9E-6DFA55AD3265}"/>
              </a:ext>
            </a:extLst>
          </p:cNvPr>
          <p:cNvSpPr txBox="1"/>
          <p:nvPr/>
        </p:nvSpPr>
        <p:spPr>
          <a:xfrm>
            <a:off x="6565392" y="2267712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7B1913-85A0-E7FC-AC7F-E1FBE1520CCB}"/>
              </a:ext>
            </a:extLst>
          </p:cNvPr>
          <p:cNvSpPr/>
          <p:nvPr/>
        </p:nvSpPr>
        <p:spPr>
          <a:xfrm>
            <a:off x="594360" y="2642615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2B921A-3A72-6CBE-5A5B-A610AA844987}"/>
              </a:ext>
            </a:extLst>
          </p:cNvPr>
          <p:cNvSpPr txBox="1"/>
          <p:nvPr/>
        </p:nvSpPr>
        <p:spPr>
          <a:xfrm>
            <a:off x="621792" y="2706623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KD nearest neighbor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48B2F35-E53C-02E6-0A59-6BD9EAC19000}"/>
              </a:ext>
            </a:extLst>
          </p:cNvPr>
          <p:cNvSpPr/>
          <p:nvPr/>
        </p:nvSpPr>
        <p:spPr>
          <a:xfrm>
            <a:off x="2651760" y="2642615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7FBBFA-F6F2-13FD-D086-CD734B1E47A9}"/>
              </a:ext>
            </a:extLst>
          </p:cNvPr>
          <p:cNvSpPr txBox="1"/>
          <p:nvPr/>
        </p:nvSpPr>
        <p:spPr>
          <a:xfrm>
            <a:off x="2679191" y="2706623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AAD224-16C7-4A45-3575-BA5D654CD224}"/>
              </a:ext>
            </a:extLst>
          </p:cNvPr>
          <p:cNvSpPr/>
          <p:nvPr/>
        </p:nvSpPr>
        <p:spPr>
          <a:xfrm>
            <a:off x="3886200" y="2642615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A34894-82F9-EF7E-F39C-24F41D9905C0}"/>
              </a:ext>
            </a:extLst>
          </p:cNvPr>
          <p:cNvSpPr txBox="1"/>
          <p:nvPr/>
        </p:nvSpPr>
        <p:spPr>
          <a:xfrm>
            <a:off x="3913632" y="2706623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n) avg.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085D1D5-944F-D5D7-19C1-C7034D7FE333}"/>
              </a:ext>
            </a:extLst>
          </p:cNvPr>
          <p:cNvSpPr/>
          <p:nvPr/>
        </p:nvSpPr>
        <p:spPr>
          <a:xfrm>
            <a:off x="5303520" y="2642615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B2C632-BF33-365C-9D16-F6CF0B4FD9D5}"/>
              </a:ext>
            </a:extLst>
          </p:cNvPr>
          <p:cNvSpPr txBox="1"/>
          <p:nvPr/>
        </p:nvSpPr>
        <p:spPr>
          <a:xfrm>
            <a:off x="5330952" y="2706623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 dirty="0">
                <a:solidFill>
                  <a:srgbClr val="FFAA46"/>
                </a:solidFill>
                <a:latin typeface="Aptos"/>
              </a:rPr>
              <a:t>O(n)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6D27E9-18BC-0450-A0DF-39809F4F4B2E}"/>
              </a:ext>
            </a:extLst>
          </p:cNvPr>
          <p:cNvSpPr/>
          <p:nvPr/>
        </p:nvSpPr>
        <p:spPr>
          <a:xfrm>
            <a:off x="6537960" y="2642615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3C208E6-FD8E-7E38-4DF3-14ACC4F71989}"/>
              </a:ext>
            </a:extLst>
          </p:cNvPr>
          <p:cNvSpPr txBox="1"/>
          <p:nvPr/>
        </p:nvSpPr>
        <p:spPr>
          <a:xfrm>
            <a:off x="6565392" y="2706623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45D825-A67F-69AC-8BCB-BA5EA7A01161}"/>
              </a:ext>
            </a:extLst>
          </p:cNvPr>
          <p:cNvSpPr/>
          <p:nvPr/>
        </p:nvSpPr>
        <p:spPr>
          <a:xfrm>
            <a:off x="594360" y="3081528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FA8520-4201-199E-DBFC-EE4D413A641D}"/>
              </a:ext>
            </a:extLst>
          </p:cNvPr>
          <p:cNvSpPr txBox="1"/>
          <p:nvPr/>
        </p:nvSpPr>
        <p:spPr>
          <a:xfrm>
            <a:off x="621792" y="3145536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QuadTree insert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F9D880-79AE-64C2-7153-17805C394D60}"/>
              </a:ext>
            </a:extLst>
          </p:cNvPr>
          <p:cNvSpPr/>
          <p:nvPr/>
        </p:nvSpPr>
        <p:spPr>
          <a:xfrm>
            <a:off x="2651760" y="3081528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C478E04-4DFD-D39B-8DC4-A376BDFA38BB}"/>
              </a:ext>
            </a:extLst>
          </p:cNvPr>
          <p:cNvSpPr txBox="1"/>
          <p:nvPr/>
        </p:nvSpPr>
        <p:spPr>
          <a:xfrm>
            <a:off x="2679191" y="3145536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DC49B26-1380-2109-76C8-2184D2CDAA8F}"/>
              </a:ext>
            </a:extLst>
          </p:cNvPr>
          <p:cNvSpPr/>
          <p:nvPr/>
        </p:nvSpPr>
        <p:spPr>
          <a:xfrm>
            <a:off x="3886200" y="3081528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5DDD5E8-2A0A-9485-24A2-000A591E2374}"/>
              </a:ext>
            </a:extLst>
          </p:cNvPr>
          <p:cNvSpPr txBox="1"/>
          <p:nvPr/>
        </p:nvSpPr>
        <p:spPr>
          <a:xfrm>
            <a:off x="3913632" y="3145536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n) avg.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751A432-EDAA-57E6-FF1B-08E392F315DF}"/>
              </a:ext>
            </a:extLst>
          </p:cNvPr>
          <p:cNvSpPr/>
          <p:nvPr/>
        </p:nvSpPr>
        <p:spPr>
          <a:xfrm>
            <a:off x="5303520" y="3081528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3C3A009-8922-99B7-A3FF-EDD93E671EFE}"/>
              </a:ext>
            </a:extLst>
          </p:cNvPr>
          <p:cNvSpPr txBox="1"/>
          <p:nvPr/>
        </p:nvSpPr>
        <p:spPr>
          <a:xfrm>
            <a:off x="5330952" y="3145536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FFB2CB7-E6E8-E396-7DE7-7005C2CB6DC1}"/>
              </a:ext>
            </a:extLst>
          </p:cNvPr>
          <p:cNvSpPr/>
          <p:nvPr/>
        </p:nvSpPr>
        <p:spPr>
          <a:xfrm>
            <a:off x="6537960" y="3081528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47B2A9-2622-8AC7-1A7B-0E94FEF84928}"/>
              </a:ext>
            </a:extLst>
          </p:cNvPr>
          <p:cNvSpPr txBox="1"/>
          <p:nvPr/>
        </p:nvSpPr>
        <p:spPr>
          <a:xfrm>
            <a:off x="6565392" y="3145536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8E07C0C-1776-63FB-AEB8-986BDEDAEE10}"/>
              </a:ext>
            </a:extLst>
          </p:cNvPr>
          <p:cNvSpPr/>
          <p:nvPr/>
        </p:nvSpPr>
        <p:spPr>
          <a:xfrm>
            <a:off x="594360" y="3520439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B95763-78E3-C39C-0433-F5FD8AC61C60}"/>
              </a:ext>
            </a:extLst>
          </p:cNvPr>
          <p:cNvSpPr txBox="1"/>
          <p:nvPr/>
        </p:nvSpPr>
        <p:spPr>
          <a:xfrm>
            <a:off x="621792" y="3584447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QuadTree range query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0709096-3ED9-C151-73D9-0151FF52158F}"/>
              </a:ext>
            </a:extLst>
          </p:cNvPr>
          <p:cNvSpPr/>
          <p:nvPr/>
        </p:nvSpPr>
        <p:spPr>
          <a:xfrm>
            <a:off x="2651760" y="3520439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517B1D-DA1B-6FC4-EDF5-FA3984ADCDAD}"/>
              </a:ext>
            </a:extLst>
          </p:cNvPr>
          <p:cNvSpPr txBox="1"/>
          <p:nvPr/>
        </p:nvSpPr>
        <p:spPr>
          <a:xfrm>
            <a:off x="2679191" y="3584447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 + k)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58AB623-633C-DCA0-F0FE-2D7194AADCD3}"/>
              </a:ext>
            </a:extLst>
          </p:cNvPr>
          <p:cNvSpPr/>
          <p:nvPr/>
        </p:nvSpPr>
        <p:spPr>
          <a:xfrm>
            <a:off x="3886200" y="3520439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C4471D-AF43-57A8-46BD-2172FA49A6A6}"/>
              </a:ext>
            </a:extLst>
          </p:cNvPr>
          <p:cNvSpPr txBox="1"/>
          <p:nvPr/>
        </p:nvSpPr>
        <p:spPr>
          <a:xfrm>
            <a:off x="3913632" y="3584447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O(log n + k) avg.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DACCC5-F3CE-0C45-00E4-3607B6B9DFAE}"/>
              </a:ext>
            </a:extLst>
          </p:cNvPr>
          <p:cNvSpPr/>
          <p:nvPr/>
        </p:nvSpPr>
        <p:spPr>
          <a:xfrm>
            <a:off x="5303520" y="3520439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66781E-A6A4-573C-7A6B-DB8A303AF535}"/>
              </a:ext>
            </a:extLst>
          </p:cNvPr>
          <p:cNvSpPr txBox="1"/>
          <p:nvPr/>
        </p:nvSpPr>
        <p:spPr>
          <a:xfrm>
            <a:off x="5330952" y="3584447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A3824C1-83B3-5928-DF28-F586465FD7C5}"/>
              </a:ext>
            </a:extLst>
          </p:cNvPr>
          <p:cNvSpPr/>
          <p:nvPr/>
        </p:nvSpPr>
        <p:spPr>
          <a:xfrm>
            <a:off x="6537960" y="3520439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438C37F-C47E-D899-0B6E-C286B25CD196}"/>
              </a:ext>
            </a:extLst>
          </p:cNvPr>
          <p:cNvSpPr txBox="1"/>
          <p:nvPr/>
        </p:nvSpPr>
        <p:spPr>
          <a:xfrm>
            <a:off x="6565392" y="3584447"/>
            <a:ext cx="10881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40D6D8E-CF65-F757-D11F-858C97BF9091}"/>
              </a:ext>
            </a:extLst>
          </p:cNvPr>
          <p:cNvSpPr/>
          <p:nvPr/>
        </p:nvSpPr>
        <p:spPr>
          <a:xfrm>
            <a:off x="594360" y="3959352"/>
            <a:ext cx="20574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DA049AC-FC21-4A59-6103-30BF20807C64}"/>
              </a:ext>
            </a:extLst>
          </p:cNvPr>
          <p:cNvSpPr txBox="1"/>
          <p:nvPr/>
        </p:nvSpPr>
        <p:spPr>
          <a:xfrm>
            <a:off x="621792" y="4023360"/>
            <a:ext cx="200253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BF5FA"/>
                </a:solidFill>
                <a:latin typeface="Aptos"/>
              </a:rPr>
              <a:t>Sweep Line collision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E08FF08-2889-38C8-43B7-8BF9CD532AE2}"/>
              </a:ext>
            </a:extLst>
          </p:cNvPr>
          <p:cNvSpPr/>
          <p:nvPr/>
        </p:nvSpPr>
        <p:spPr>
          <a:xfrm>
            <a:off x="2651760" y="3959352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79D7BA0-9CC3-78EC-224B-DCCD6BA09875}"/>
              </a:ext>
            </a:extLst>
          </p:cNvPr>
          <p:cNvSpPr txBox="1"/>
          <p:nvPr/>
        </p:nvSpPr>
        <p:spPr>
          <a:xfrm>
            <a:off x="2679191" y="4023360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 log n + c)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1BE0B5D-08D7-6377-B15C-4B6565A5C251}"/>
              </a:ext>
            </a:extLst>
          </p:cNvPr>
          <p:cNvSpPr/>
          <p:nvPr/>
        </p:nvSpPr>
        <p:spPr>
          <a:xfrm>
            <a:off x="3886200" y="3959352"/>
            <a:ext cx="141732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7C1B066-B9FF-94B2-6344-35A853304E33}"/>
              </a:ext>
            </a:extLst>
          </p:cNvPr>
          <p:cNvSpPr txBox="1"/>
          <p:nvPr/>
        </p:nvSpPr>
        <p:spPr>
          <a:xfrm>
            <a:off x="3913632" y="4023360"/>
            <a:ext cx="136245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 log n + c)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1ED9FEA-006D-03AB-A5D5-744F6F062A77}"/>
              </a:ext>
            </a:extLst>
          </p:cNvPr>
          <p:cNvSpPr/>
          <p:nvPr/>
        </p:nvSpPr>
        <p:spPr>
          <a:xfrm>
            <a:off x="5303520" y="3959352"/>
            <a:ext cx="123444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DEE78A1-58C3-759F-F350-41FE3F339896}"/>
              </a:ext>
            </a:extLst>
          </p:cNvPr>
          <p:cNvSpPr txBox="1"/>
          <p:nvPr/>
        </p:nvSpPr>
        <p:spPr>
          <a:xfrm>
            <a:off x="5330952" y="4023360"/>
            <a:ext cx="1179576" cy="36575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FFAA46"/>
                </a:solidFill>
                <a:latin typeface="Aptos"/>
              </a:rPr>
              <a:t>O(n²)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3DCC137-D3D6-923C-3F29-1DEF1AA8A2F4}"/>
              </a:ext>
            </a:extLst>
          </p:cNvPr>
          <p:cNvSpPr/>
          <p:nvPr/>
        </p:nvSpPr>
        <p:spPr>
          <a:xfrm>
            <a:off x="6537960" y="3959352"/>
            <a:ext cx="1143000" cy="438912"/>
          </a:xfrm>
          <a:prstGeom prst="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FC66D4B-8FD3-9603-8FDA-82713636FF5B}"/>
              </a:ext>
            </a:extLst>
          </p:cNvPr>
          <p:cNvSpPr txBox="1"/>
          <p:nvPr/>
        </p:nvSpPr>
        <p:spPr>
          <a:xfrm>
            <a:off x="6565392" y="4023360"/>
            <a:ext cx="1088136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>
                <a:solidFill>
                  <a:srgbClr val="EBF5FA"/>
                </a:solidFill>
                <a:latin typeface="Aptos"/>
              </a:rPr>
              <a:t>O(n)</a:t>
            </a:r>
          </a:p>
        </p:txBody>
      </p:sp>
      <p:sp>
        <p:nvSpPr>
          <p:cNvPr id="160" name="Rounded Rectangle 75">
            <a:extLst>
              <a:ext uri="{FF2B5EF4-FFF2-40B4-BE49-F238E27FC236}">
                <a16:creationId xmlns:a16="http://schemas.microsoft.com/office/drawing/2014/main" id="{F2D03827-2DDB-17CF-4AD0-290F468EA298}"/>
              </a:ext>
            </a:extLst>
          </p:cNvPr>
          <p:cNvSpPr/>
          <p:nvPr/>
        </p:nvSpPr>
        <p:spPr>
          <a:xfrm>
            <a:off x="8183879" y="1325880"/>
            <a:ext cx="3383280" cy="1207008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4987C80-B375-01FF-5E83-9CFDA64C96C5}"/>
              </a:ext>
            </a:extLst>
          </p:cNvPr>
          <p:cNvSpPr txBox="1"/>
          <p:nvPr/>
        </p:nvSpPr>
        <p:spPr>
          <a:xfrm>
            <a:off x="8330183" y="1435607"/>
            <a:ext cx="309067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COMPLEXITY PARAMETERS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EB7576C-A381-1BB6-D868-CFA6797DFBC7}"/>
              </a:ext>
            </a:extLst>
          </p:cNvPr>
          <p:cNvSpPr txBox="1"/>
          <p:nvPr/>
        </p:nvSpPr>
        <p:spPr>
          <a:xfrm>
            <a:off x="8330183" y="1719072"/>
            <a:ext cx="2752485" cy="52168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050" b="0" dirty="0">
                <a:solidFill>
                  <a:schemeClr val="bg1"/>
                </a:solidFill>
                <a:latin typeface="Aptos"/>
              </a:rPr>
              <a:t>n = number of drones / records</a:t>
            </a:r>
            <a:br>
              <a:rPr sz="1050" dirty="0">
                <a:solidFill>
                  <a:schemeClr val="bg1"/>
                </a:solidFill>
              </a:rPr>
            </a:br>
            <a:r>
              <a:rPr sz="1050" dirty="0">
                <a:solidFill>
                  <a:schemeClr val="bg1"/>
                </a:solidFill>
              </a:rPr>
              <a:t>k = number of points returned by a range query</a:t>
            </a:r>
            <a:br>
              <a:rPr sz="1050" dirty="0">
                <a:solidFill>
                  <a:schemeClr val="bg1"/>
                </a:solidFill>
              </a:rPr>
            </a:br>
            <a:r>
              <a:rPr sz="1050" dirty="0">
                <a:solidFill>
                  <a:schemeClr val="bg1"/>
                </a:solidFill>
              </a:rPr>
              <a:t>c = number of candidate intersections / collisions</a:t>
            </a:r>
          </a:p>
        </p:txBody>
      </p:sp>
      <p:sp>
        <p:nvSpPr>
          <p:cNvPr id="166" name="Rounded Rectangle 78">
            <a:extLst>
              <a:ext uri="{FF2B5EF4-FFF2-40B4-BE49-F238E27FC236}">
                <a16:creationId xmlns:a16="http://schemas.microsoft.com/office/drawing/2014/main" id="{ED5A7DBE-A626-B2F0-4EC4-4FF7BB297EBE}"/>
              </a:ext>
            </a:extLst>
          </p:cNvPr>
          <p:cNvSpPr/>
          <p:nvPr/>
        </p:nvSpPr>
        <p:spPr>
          <a:xfrm>
            <a:off x="8183879" y="2724912"/>
            <a:ext cx="3383280" cy="1234440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EF7F355-2396-35DB-7C47-92A00F8D72EB}"/>
              </a:ext>
            </a:extLst>
          </p:cNvPr>
          <p:cNvSpPr txBox="1"/>
          <p:nvPr/>
        </p:nvSpPr>
        <p:spPr>
          <a:xfrm>
            <a:off x="8330183" y="2834640"/>
            <a:ext cx="309067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TIME COMPLEXITY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4282412-435A-DA0C-D4FA-B72E6C8C7029}"/>
              </a:ext>
            </a:extLst>
          </p:cNvPr>
          <p:cNvSpPr txBox="1"/>
          <p:nvPr/>
        </p:nvSpPr>
        <p:spPr>
          <a:xfrm>
            <a:off x="8330182" y="3118104"/>
            <a:ext cx="3090673" cy="3600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 dirty="0">
                <a:solidFill>
                  <a:srgbClr val="EBF5FA"/>
                </a:solidFill>
                <a:latin typeface="Aptos"/>
              </a:rPr>
              <a:t>Shows how running time grows as input size n increases. Lower growth generally scales better.</a:t>
            </a:r>
          </a:p>
        </p:txBody>
      </p:sp>
      <p:sp>
        <p:nvSpPr>
          <p:cNvPr id="172" name="Rounded Rectangle 81">
            <a:extLst>
              <a:ext uri="{FF2B5EF4-FFF2-40B4-BE49-F238E27FC236}">
                <a16:creationId xmlns:a16="http://schemas.microsoft.com/office/drawing/2014/main" id="{7FB9D22C-2D39-742B-7CB1-7522C4436804}"/>
              </a:ext>
            </a:extLst>
          </p:cNvPr>
          <p:cNvSpPr/>
          <p:nvPr/>
        </p:nvSpPr>
        <p:spPr>
          <a:xfrm>
            <a:off x="8183879" y="4160520"/>
            <a:ext cx="3383280" cy="987552"/>
          </a:xfrm>
          <a:prstGeom prst="roundRect">
            <a:avLst/>
          </a:prstGeom>
          <a:solidFill>
            <a:srgbClr val="0F1F2D"/>
          </a:solidFill>
          <a:ln>
            <a:solidFill>
              <a:srgbClr val="2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E7C9D6A-5C32-9C4B-28F4-F0D9239EEF6A}"/>
              </a:ext>
            </a:extLst>
          </p:cNvPr>
          <p:cNvSpPr txBox="1"/>
          <p:nvPr/>
        </p:nvSpPr>
        <p:spPr>
          <a:xfrm>
            <a:off x="8330183" y="4270248"/>
            <a:ext cx="309067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30D2DC"/>
                </a:solidFill>
                <a:latin typeface="Aptos"/>
              </a:rPr>
              <a:t>SPACE COMPLEXITY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9BADAF6-0994-F685-63BF-4E7D85F49B4D}"/>
              </a:ext>
            </a:extLst>
          </p:cNvPr>
          <p:cNvSpPr txBox="1"/>
          <p:nvPr/>
        </p:nvSpPr>
        <p:spPr>
          <a:xfrm>
            <a:off x="8330182" y="4553712"/>
            <a:ext cx="3191257" cy="3600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 dirty="0">
                <a:solidFill>
                  <a:srgbClr val="EBF5FA"/>
                </a:solidFill>
                <a:latin typeface="Aptos"/>
              </a:rPr>
              <a:t>Shows how additional storage grows with n. The implemented collections and trees use O(n) space.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49828CA-1598-A78E-CABB-FA4802B62E4A}"/>
              </a:ext>
            </a:extLst>
          </p:cNvPr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9BB4C3"/>
                </a:solidFill>
                <a:latin typeface="Aptos"/>
              </a:rPr>
              <a:t>REAL-TIME DRONE AIRSPACE MONITORING • DSA-2 CAPSTONE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83BA10B-9C38-A5CB-CE65-02728EBA96A4}"/>
              </a:ext>
            </a:extLst>
          </p:cNvPr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800" b="1">
                <a:solidFill>
                  <a:srgbClr val="30D2DC"/>
                </a:solidFill>
                <a:latin typeface="Aptos"/>
              </a:rPr>
              <a:t>SKYSHIELD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Experimental Setup &amp; 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41148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CABBE"/>
                </a:solidFill>
                <a:latin typeface="Aptos"/>
              </a:rPr>
              <a:t>Functional validation scenarios for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Cascadia Mon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41732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5720" cy="1417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0136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BBE"/>
                </a:solidFill>
                <a:latin typeface="Aptos"/>
              </a:rPr>
              <a:t>Java runtime + command-line interface. The supplied WEB folder also provides an interactive monitoring front-end.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41732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45720" cy="1417320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INPUT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0136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BBE"/>
                </a:solidFill>
                <a:latin typeface="Aptos"/>
              </a:rPr>
              <a:t>Drone: ID, position, velocity, radius=10. No-fly zone: center + radius.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29000" cy="1417320"/>
          </a:xfrm>
          <a:prstGeom prst="round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325880"/>
            <a:ext cx="45720" cy="14173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0F6FC"/>
                </a:solidFill>
                <a:latin typeface="Aptos"/>
              </a:rPr>
              <a:t>INDEX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180136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BBE"/>
                </a:solidFill>
                <a:latin typeface="Aptos"/>
              </a:rPr>
              <a:t>Quad Tree capacity=4. KD-Tree cycles X/Y/Z axes by depth.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063240"/>
          <a:ext cx="109270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00D4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00D4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00D4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Add drone D1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D1 inserted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Advance time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Position updated by v·dt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Target-point query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Nearest drone returned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2D area query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Drones in search box returned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Close drones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Collision alert if distance ≤ radii sum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4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Restricted zone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F0F6FC"/>
                          </a:solidFill>
                          <a:latin typeface="Aptos"/>
                        </a:defRPr>
                      </a:pPr>
                      <a:r>
                        <a:t>No-fly-zone violation alert</a:t>
                      </a:r>
                    </a:p>
                  </a:txBody>
                  <a:tcPr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BBE"/>
                </a:solidFill>
                <a:latin typeface="Cascadia Mono"/>
              </a:rPr>
              <a:t>REAL-TIME DRONE AIRSPACE MONITORING • DSA-2 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D4FF"/>
                </a:solidFill>
                <a:latin typeface="Cascadia Mono"/>
              </a:rPr>
              <a:t>SKYSHIELD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" y="457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A"/>
                </a:solidFill>
              </a:defRPr>
            </a:pPr>
            <a:r>
              <a:t>Implementation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" y="58521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A5B8CD"/>
                </a:solidFill>
              </a:defRPr>
            </a:pPr>
            <a:r>
              <a:t>Functional output, observed interface metrics, processing results, and benchmark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96112"/>
            <a:ext cx="1188720" cy="5029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6537960" cy="3154680"/>
          </a:xfrm>
          <a:prstGeom prst="roundRect">
            <a:avLst/>
          </a:prstGeom>
          <a:solidFill>
            <a:srgbClr val="0C1521"/>
          </a:solidFill>
          <a:ln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D6FF"/>
                </a:solidFill>
              </a:defRPr>
            </a:pPr>
            <a:r>
              <a:t>OUTPUT SCREENSHOT — 3D TACTICAL RADAR</a:t>
            </a:r>
          </a:p>
        </p:txBody>
      </p:sp>
      <p:pic>
        <p:nvPicPr>
          <p:cNvPr id="8" name="Picture 7" descr="f0353980-8710-4cb2-b145-6cbdf1c073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2768"/>
            <a:ext cx="6172200" cy="2487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143000"/>
            <a:ext cx="4965192" cy="3154680"/>
          </a:xfrm>
          <a:prstGeom prst="roundRect">
            <a:avLst/>
          </a:prstGeom>
          <a:solidFill>
            <a:srgbClr val="0C1521"/>
          </a:solidFill>
          <a:ln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5472" y="12618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7D00"/>
                </a:solidFill>
              </a:defRPr>
            </a:pPr>
            <a:r>
              <a:t>OBSERVED OUTPUT /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16276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Active fleet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627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1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99339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Latency / tick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99339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0.3 ms (UI display)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35915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System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359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UNREGULATED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72491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Collision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724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CRITICAL impact alert displayed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3090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Search /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906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Nearest-drone &amp; range-query functions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456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Execution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4564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Not instrumented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82219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A5B8CD"/>
                </a:solidFill>
              </a:defRPr>
            </a:pPr>
            <a:r>
              <a:t>Memory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82219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t>Not instrumented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4462272"/>
            <a:ext cx="5715000" cy="1783080"/>
          </a:xfrm>
          <a:prstGeom prst="roundRect">
            <a:avLst/>
          </a:prstGeom>
          <a:solidFill>
            <a:srgbClr val="0C1521"/>
          </a:solidFill>
          <a:ln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459028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00D6FF"/>
                </a:solidFill>
              </a:defRPr>
            </a:pPr>
            <a:r>
              <a:t>GRAPH — INPUT SIZE / THEORETICAL WORKLOAD</a:t>
            </a:r>
          </a:p>
        </p:txBody>
      </p:sp>
      <p:pic>
        <p:nvPicPr>
          <p:cNvPr id="27" name="Picture 26" descr="slide13_theoretical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19"/>
            <a:ext cx="5166360" cy="126523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126480" y="4462272"/>
            <a:ext cx="5833872" cy="1783080"/>
          </a:xfrm>
          <a:prstGeom prst="roundRect">
            <a:avLst/>
          </a:prstGeom>
          <a:solidFill>
            <a:srgbClr val="0C1521"/>
          </a:solidFill>
          <a:ln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45902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7D00"/>
                </a:solidFill>
              </a:defRPr>
            </a:pPr>
            <a:r>
              <a:t>SEARCH / PROCESSING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892040"/>
            <a:ext cx="528523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EEF4FA"/>
                </a:solidFill>
              </a:defRPr>
            </a:pPr>
            <a:r>
              <a:rPr sz="1050" dirty="0"/>
              <a:t>• Collision detection: functional alert shown in the supplied interface.</a:t>
            </a:r>
            <a:br>
              <a:rPr sz="1050" dirty="0"/>
            </a:br>
            <a:r>
              <a:rPr sz="1050" dirty="0"/>
              <a:t>• No-fly / obstacle monitoring: critical impact state displayed.</a:t>
            </a:r>
            <a:br>
              <a:rPr sz="1050" dirty="0"/>
            </a:br>
            <a:r>
              <a:rPr sz="1050" dirty="0"/>
              <a:t>• Spatial queries: KD-Tree nearest-neighbor and Quad Tree range-query operations implemented.</a:t>
            </a:r>
            <a:br>
              <a:rPr sz="1050" dirty="0"/>
            </a:br>
            <a:r>
              <a:rPr sz="1050" dirty="0"/>
              <a:t>• Execution time and memory: no instrumentation in the supplied implementation, so no fabricated values are reported.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A5B8CD"/>
                </a:solidFill>
              </a:defRPr>
            </a:pPr>
            <a:r>
              <a:t>REAL-TIME DRONE AIRSPACE MONITORING  •  DSA-2 CAPSTONE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D6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B0A91B1-2236-8FE9-3ACC-6C64E6580E0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91AE94-6589-F530-9970-44222F189527}"/>
              </a:ext>
            </a:extLst>
          </p:cNvPr>
          <p:cNvSpPr txBox="1"/>
          <p:nvPr/>
        </p:nvSpPr>
        <p:spPr>
          <a:xfrm>
            <a:off x="73152" y="4572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EEF4FA"/>
                </a:solidFill>
              </a:defRPr>
            </a:pPr>
            <a:r>
              <a:t>Results 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EBC036-19F4-C1C4-005E-1EE94044D64F}"/>
              </a:ext>
            </a:extLst>
          </p:cNvPr>
          <p:cNvSpPr txBox="1"/>
          <p:nvPr/>
        </p:nvSpPr>
        <p:spPr>
          <a:xfrm>
            <a:off x="73152" y="58521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>
                <a:solidFill>
                  <a:srgbClr val="A5B8CD"/>
                </a:solidFill>
              </a:defRPr>
            </a:pPr>
            <a:r>
              <a:t>Interpreting observed results, scalability, effectiveness, and implementation trade-offs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909F71-C708-D15C-B091-6302E84FBCF3}"/>
              </a:ext>
            </a:extLst>
          </p:cNvPr>
          <p:cNvSpPr/>
          <p:nvPr/>
        </p:nvSpPr>
        <p:spPr>
          <a:xfrm>
            <a:off x="0" y="896112"/>
            <a:ext cx="1188720" cy="5029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87BBF33A-5C8A-7509-A7B5-F121CAE94CE7}"/>
              </a:ext>
            </a:extLst>
          </p:cNvPr>
          <p:cNvSpPr/>
          <p:nvPr/>
        </p:nvSpPr>
        <p:spPr>
          <a:xfrm>
            <a:off x="228600" y="1234440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C02609-20BD-9BB2-003E-BFEE969F4EA3}"/>
              </a:ext>
            </a:extLst>
          </p:cNvPr>
          <p:cNvSpPr/>
          <p:nvPr/>
        </p:nvSpPr>
        <p:spPr>
          <a:xfrm>
            <a:off x="228600" y="1234440"/>
            <a:ext cx="54864" cy="135331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D0EDF-366D-612C-C1E9-F90E90F86D77}"/>
              </a:ext>
            </a:extLst>
          </p:cNvPr>
          <p:cNvSpPr txBox="1"/>
          <p:nvPr/>
        </p:nvSpPr>
        <p:spPr>
          <a:xfrm>
            <a:off x="429768" y="1371600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00D6FF"/>
                </a:solidFill>
              </a:defRPr>
            </a:pPr>
            <a:r>
              <a:t>WHAT DO THE RESULTS INDICATE?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04E13A-EF53-9F1A-4CB3-73586C089998}"/>
              </a:ext>
            </a:extLst>
          </p:cNvPr>
          <p:cNvSpPr txBox="1"/>
          <p:nvPr/>
        </p:nvSpPr>
        <p:spPr>
          <a:xfrm>
            <a:off x="429768" y="1719072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The prototype successfully performs collision detection, no-fly-zone checks, nearest-drone search, and 2D range queries.</a:t>
            </a:r>
          </a:p>
        </p:txBody>
      </p:sp>
      <p:sp>
        <p:nvSpPr>
          <p:cNvPr id="53" name="Rounded Rectangle 9">
            <a:extLst>
              <a:ext uri="{FF2B5EF4-FFF2-40B4-BE49-F238E27FC236}">
                <a16:creationId xmlns:a16="http://schemas.microsoft.com/office/drawing/2014/main" id="{157F63CB-242A-D7D9-6DD0-FEDE0086E5BB}"/>
              </a:ext>
            </a:extLst>
          </p:cNvPr>
          <p:cNvSpPr/>
          <p:nvPr/>
        </p:nvSpPr>
        <p:spPr>
          <a:xfrm>
            <a:off x="6199632" y="1234440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26F613-69E1-BFF1-3D3C-CA721FAE0A02}"/>
              </a:ext>
            </a:extLst>
          </p:cNvPr>
          <p:cNvSpPr/>
          <p:nvPr/>
        </p:nvSpPr>
        <p:spPr>
          <a:xfrm>
            <a:off x="6199632" y="1234440"/>
            <a:ext cx="54864" cy="135331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5C6518-0FE3-3D7F-CC15-338CCC432FBF}"/>
              </a:ext>
            </a:extLst>
          </p:cNvPr>
          <p:cNvSpPr txBox="1"/>
          <p:nvPr/>
        </p:nvSpPr>
        <p:spPr>
          <a:xfrm>
            <a:off x="6400800" y="1371600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00D6FF"/>
                </a:solidFill>
              </a:defRPr>
            </a:pPr>
            <a:r>
              <a:t>HOW DOES PERFORMANCE CHANGE WITH INPUT SIZE?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79C27E-F7D7-1AB6-9DDD-CF5573EB8C31}"/>
              </a:ext>
            </a:extLst>
          </p:cNvPr>
          <p:cNvSpPr txBox="1"/>
          <p:nvPr/>
        </p:nvSpPr>
        <p:spPr>
          <a:xfrm>
            <a:off x="6400800" y="1719072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As the number of drones increases, direct pairwise checking grows rapidly, while spatial indexing avoids unnecessary comparisons for localized queries.</a:t>
            </a:r>
          </a:p>
        </p:txBody>
      </p:sp>
      <p:sp>
        <p:nvSpPr>
          <p:cNvPr id="61" name="Rounded Rectangle 13">
            <a:extLst>
              <a:ext uri="{FF2B5EF4-FFF2-40B4-BE49-F238E27FC236}">
                <a16:creationId xmlns:a16="http://schemas.microsoft.com/office/drawing/2014/main" id="{6090503B-6DF1-9574-E1E5-5E569C47B266}"/>
              </a:ext>
            </a:extLst>
          </p:cNvPr>
          <p:cNvSpPr/>
          <p:nvPr/>
        </p:nvSpPr>
        <p:spPr>
          <a:xfrm>
            <a:off x="228600" y="2724912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8385666-DA86-A023-C9D3-A0971540CB4C}"/>
              </a:ext>
            </a:extLst>
          </p:cNvPr>
          <p:cNvSpPr/>
          <p:nvPr/>
        </p:nvSpPr>
        <p:spPr>
          <a:xfrm>
            <a:off x="228600" y="2724912"/>
            <a:ext cx="54864" cy="135331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FE8103-0670-6281-0D4D-FEDBABDBC113}"/>
              </a:ext>
            </a:extLst>
          </p:cNvPr>
          <p:cNvSpPr txBox="1"/>
          <p:nvPr/>
        </p:nvSpPr>
        <p:spPr>
          <a:xfrm>
            <a:off x="429768" y="2862072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00D6FF"/>
                </a:solidFill>
              </a:defRPr>
            </a:pPr>
            <a:r>
              <a:t>THEORETICAL VS OBSERVED PERFORMANCE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A6CDB2-9952-4CF9-582F-F820E0AA5A0A}"/>
              </a:ext>
            </a:extLst>
          </p:cNvPr>
          <p:cNvSpPr txBox="1"/>
          <p:nvPr/>
        </p:nvSpPr>
        <p:spPr>
          <a:xfrm>
            <a:off x="429768" y="3209544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The observed functional behavior follows the expected complexity trends. However, no measured runtime benchmark was collected, so numerical performance claims are not made.</a:t>
            </a:r>
          </a:p>
        </p:txBody>
      </p:sp>
      <p:sp>
        <p:nvSpPr>
          <p:cNvPr id="69" name="Rounded Rectangle 17">
            <a:extLst>
              <a:ext uri="{FF2B5EF4-FFF2-40B4-BE49-F238E27FC236}">
                <a16:creationId xmlns:a16="http://schemas.microsoft.com/office/drawing/2014/main" id="{413A7E17-D706-C928-6B30-4E447E052CBC}"/>
              </a:ext>
            </a:extLst>
          </p:cNvPr>
          <p:cNvSpPr/>
          <p:nvPr/>
        </p:nvSpPr>
        <p:spPr>
          <a:xfrm>
            <a:off x="6199632" y="2724912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0D9AEA-F8A0-5B4C-07C6-4473F1E985FF}"/>
              </a:ext>
            </a:extLst>
          </p:cNvPr>
          <p:cNvSpPr/>
          <p:nvPr/>
        </p:nvSpPr>
        <p:spPr>
          <a:xfrm>
            <a:off x="6199632" y="2724912"/>
            <a:ext cx="54864" cy="1353312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39CB41-DE56-9930-7ACA-65EB8C51122C}"/>
              </a:ext>
            </a:extLst>
          </p:cNvPr>
          <p:cNvSpPr txBox="1"/>
          <p:nvPr/>
        </p:nvSpPr>
        <p:spPr>
          <a:xfrm>
            <a:off x="6400800" y="2862072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FF7D00"/>
                </a:solidFill>
              </a:defRPr>
            </a:pPr>
            <a:r>
              <a:t>HOW EFFECTIVELY DOES THE SELECTED DSA SOLVE THE PROBLEM?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A7AE68-7545-5FBA-8565-961384003D53}"/>
              </a:ext>
            </a:extLst>
          </p:cNvPr>
          <p:cNvSpPr txBox="1"/>
          <p:nvPr/>
        </p:nvSpPr>
        <p:spPr>
          <a:xfrm>
            <a:off x="6400800" y="3209544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KD-Tree supports 3D nearest-neighbor search, Quad Tree supports 2D range queries, and the Sweep Line approach narrows collision candidates by spatial proximity.</a:t>
            </a:r>
          </a:p>
        </p:txBody>
      </p:sp>
      <p:sp>
        <p:nvSpPr>
          <p:cNvPr id="77" name="Rounded Rectangle 21">
            <a:extLst>
              <a:ext uri="{FF2B5EF4-FFF2-40B4-BE49-F238E27FC236}">
                <a16:creationId xmlns:a16="http://schemas.microsoft.com/office/drawing/2014/main" id="{D7AD6F16-C14C-AC52-5901-D10A63E0F68F}"/>
              </a:ext>
            </a:extLst>
          </p:cNvPr>
          <p:cNvSpPr/>
          <p:nvPr/>
        </p:nvSpPr>
        <p:spPr>
          <a:xfrm>
            <a:off x="228600" y="4215384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685F2CF-B6FA-56FF-BDA8-21C9294EC235}"/>
              </a:ext>
            </a:extLst>
          </p:cNvPr>
          <p:cNvSpPr/>
          <p:nvPr/>
        </p:nvSpPr>
        <p:spPr>
          <a:xfrm>
            <a:off x="228600" y="4215384"/>
            <a:ext cx="54864" cy="1353312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EB5493-0156-0D0A-EDAB-1EBFAA3E0EED}"/>
              </a:ext>
            </a:extLst>
          </p:cNvPr>
          <p:cNvSpPr txBox="1"/>
          <p:nvPr/>
        </p:nvSpPr>
        <p:spPr>
          <a:xfrm>
            <a:off x="429768" y="4352544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FF7D00"/>
                </a:solidFill>
              </a:defRPr>
            </a:pPr>
            <a:r>
              <a:t>ADVANTAGES OF THE PROPOSED APPROACH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75BAC2-6F81-6E13-2F44-BB17B053744D}"/>
              </a:ext>
            </a:extLst>
          </p:cNvPr>
          <p:cNvSpPr txBox="1"/>
          <p:nvPr/>
        </p:nvSpPr>
        <p:spPr>
          <a:xfrm>
            <a:off x="429768" y="4700016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Geometry-aware indexing, query-specific data structures, organized drone records, targeted spatial searches, and support for trajectory updates.</a:t>
            </a: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9840A65-4A11-D68B-00B0-E456ACD2D1E3}"/>
              </a:ext>
            </a:extLst>
          </p:cNvPr>
          <p:cNvSpPr/>
          <p:nvPr/>
        </p:nvSpPr>
        <p:spPr>
          <a:xfrm>
            <a:off x="6199632" y="4215384"/>
            <a:ext cx="5532120" cy="1353312"/>
          </a:xfrm>
          <a:prstGeom prst="roundRect">
            <a:avLst/>
          </a:prstGeom>
          <a:solidFill>
            <a:srgbClr val="0C1521"/>
          </a:solidFill>
          <a:ln w="10160">
            <a:solidFill>
              <a:srgbClr val="26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2296B1D-EDA5-58D1-0777-0A28A58EC315}"/>
              </a:ext>
            </a:extLst>
          </p:cNvPr>
          <p:cNvSpPr/>
          <p:nvPr/>
        </p:nvSpPr>
        <p:spPr>
          <a:xfrm>
            <a:off x="6199632" y="4215384"/>
            <a:ext cx="54864" cy="1353312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865151B-FFF2-B255-F94A-0EC5E5AF07E2}"/>
              </a:ext>
            </a:extLst>
          </p:cNvPr>
          <p:cNvSpPr txBox="1"/>
          <p:nvPr/>
        </p:nvSpPr>
        <p:spPr>
          <a:xfrm>
            <a:off x="6400800" y="4352544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FF7D00"/>
                </a:solidFill>
              </a:defRPr>
            </a:pPr>
            <a:r>
              <a:t>LIMITATIONS OF THE IMPLEMENTATION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91D413-FFE9-0F87-D02A-584013612BD5}"/>
              </a:ext>
            </a:extLst>
          </p:cNvPr>
          <p:cNvSpPr txBox="1"/>
          <p:nvPr/>
        </p:nvSpPr>
        <p:spPr>
          <a:xfrm>
            <a:off x="6400800" y="4700016"/>
            <a:ext cx="514807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40" b="0">
                <a:solidFill>
                  <a:srgbClr val="EEF4FA"/>
                </a:solidFill>
              </a:defRPr>
            </a:pPr>
            <a:r>
              <a:t>KD-Tree construction repeatedly sorts data, the ArrayList-based sweep can degrade to O(n²), and spatial indexes are rebuilt for query operations.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0513C9-FE9F-4CA4-204D-0A3D5E52AC93}"/>
              </a:ext>
            </a:extLst>
          </p:cNvPr>
          <p:cNvSpPr txBox="1"/>
          <p:nvPr/>
        </p:nvSpPr>
        <p:spPr>
          <a:xfrm>
            <a:off x="228600" y="57607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60" b="1">
                <a:solidFill>
                  <a:srgbClr val="A5B8CD"/>
                </a:solidFill>
              </a:defRPr>
            </a:pPr>
            <a:r>
              <a:t>KEY TAKEAWAY: Spatial data structures improve targeted airspace queries, while implementation-level optimization is required for large-scale real-time deployment.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A3EC39E-C5D3-DB9E-1DC9-FD9F99D11CAD}"/>
              </a:ext>
            </a:extLst>
          </p:cNvPr>
          <p:cNvSpPr txBox="1"/>
          <p:nvPr/>
        </p:nvSpPr>
        <p:spPr>
          <a:xfrm>
            <a:off x="73152" y="65105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A5B8CD"/>
                </a:solidFill>
              </a:defRPr>
            </a:pPr>
            <a:r>
              <a:t>REAL-TIME DRONE AIRSPACE MONITORING  •  DSA-2 CAPSTONE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B40A804-3AD5-72EA-701F-842C1AA29891}"/>
              </a:ext>
            </a:extLst>
          </p:cNvPr>
          <p:cNvSpPr txBox="1"/>
          <p:nvPr/>
        </p:nvSpPr>
        <p:spPr>
          <a:xfrm>
            <a:off x="11612880" y="651052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6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>
            <a:extLst>
              <a:ext uri="{FF2B5EF4-FFF2-40B4-BE49-F238E27FC236}">
                <a16:creationId xmlns:a16="http://schemas.microsoft.com/office/drawing/2014/main" id="{EA9BADCE-E18F-DE18-CE90-1C8F91DD90F2}"/>
              </a:ext>
            </a:extLst>
          </p:cNvPr>
          <p:cNvSpPr txBox="1"/>
          <p:nvPr/>
        </p:nvSpPr>
        <p:spPr>
          <a:xfrm>
            <a:off x="594512" y="429768"/>
            <a:ext cx="98755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700" b="1">
                <a:latin typeface="Aptos"/>
              </a:rPr>
              <a:t>Conclusion &amp; Future Scope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61680F20-8F7B-9975-0921-3D183F187A27}"/>
              </a:ext>
            </a:extLst>
          </p:cNvPr>
          <p:cNvSpPr txBox="1"/>
          <p:nvPr/>
        </p:nvSpPr>
        <p:spPr>
          <a:xfrm>
            <a:off x="594512" y="1088136"/>
            <a:ext cx="107899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" b="0">
                <a:latin typeface="Aptos"/>
              </a:rPr>
              <a:t>From dynamic records to spatially aware monitoring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218464A0-6B8C-408C-00ED-E2EF8ED89475}"/>
              </a:ext>
            </a:extLst>
          </p:cNvPr>
          <p:cNvSpPr txBox="1"/>
          <p:nvPr/>
        </p:nvSpPr>
        <p:spPr>
          <a:xfrm>
            <a:off x="11110112" y="466344"/>
            <a:ext cx="502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100" b="1">
                <a:latin typeface="Cascadia Mono"/>
              </a:rPr>
              <a:t>15</a:t>
            </a: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63D476F0-D7BF-2551-F88F-88619B260BD7}"/>
              </a:ext>
            </a:extLst>
          </p:cNvPr>
          <p:cNvSpPr txBox="1"/>
          <p:nvPr/>
        </p:nvSpPr>
        <p:spPr>
          <a:xfrm>
            <a:off x="594512" y="6592824"/>
            <a:ext cx="8686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latin typeface="Cascadia Mono"/>
              </a:rPr>
              <a:t>REAL-TIME DRONE AIRSPACE MONITORING • DSA-2 CAPSTONE</a:t>
            </a:r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222175DD-82F8-E8C4-785D-EA91B20C2DD8}"/>
              </a:ext>
            </a:extLst>
          </p:cNvPr>
          <p:cNvSpPr txBox="1"/>
          <p:nvPr/>
        </p:nvSpPr>
        <p:spPr>
          <a:xfrm>
            <a:off x="10378592" y="6574536"/>
            <a:ext cx="11887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750" b="1">
                <a:latin typeface="Cascadia Mono"/>
              </a:rPr>
              <a:t>SKYSHIELD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88B9A6-EDD3-FB42-4C9B-715B352C6312}"/>
              </a:ext>
            </a:extLst>
          </p:cNvPr>
          <p:cNvSpPr/>
          <p:nvPr/>
        </p:nvSpPr>
        <p:spPr>
          <a:xfrm>
            <a:off x="152" y="1042416"/>
            <a:ext cx="12191695" cy="544068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28">
            <a:extLst>
              <a:ext uri="{FF2B5EF4-FFF2-40B4-BE49-F238E27FC236}">
                <a16:creationId xmlns:a16="http://schemas.microsoft.com/office/drawing/2014/main" id="{D48AF04F-F5E5-0D2E-586B-EA8910C8C29B}"/>
              </a:ext>
            </a:extLst>
          </p:cNvPr>
          <p:cNvSpPr txBox="1"/>
          <p:nvPr/>
        </p:nvSpPr>
        <p:spPr>
          <a:xfrm>
            <a:off x="73304" y="82296"/>
            <a:ext cx="8961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00" b="1">
                <a:solidFill>
                  <a:srgbClr val="EBF2F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C114FFFD-DB48-8228-B8D9-80D1D24E474F}"/>
              </a:ext>
            </a:extLst>
          </p:cNvPr>
          <p:cNvSpPr txBox="1"/>
          <p:nvPr/>
        </p:nvSpPr>
        <p:spPr>
          <a:xfrm>
            <a:off x="73304" y="704088"/>
            <a:ext cx="8961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 b="0">
                <a:solidFill>
                  <a:srgbClr val="AABED2"/>
                </a:solidFill>
              </a:defRPr>
            </a:pPr>
            <a:r>
              <a:t>From dynamic records to spatially aware monitoring</a:t>
            </a:r>
          </a:p>
        </p:txBody>
      </p:sp>
      <p:sp>
        <p:nvSpPr>
          <p:cNvPr id="38" name="TextBox 30">
            <a:extLst>
              <a:ext uri="{FF2B5EF4-FFF2-40B4-BE49-F238E27FC236}">
                <a16:creationId xmlns:a16="http://schemas.microsoft.com/office/drawing/2014/main" id="{C4934C9B-383C-A78A-95C7-56BA07920838}"/>
              </a:ext>
            </a:extLst>
          </p:cNvPr>
          <p:cNvSpPr txBox="1"/>
          <p:nvPr/>
        </p:nvSpPr>
        <p:spPr>
          <a:xfrm>
            <a:off x="228752" y="1179576"/>
            <a:ext cx="12461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00DCFF"/>
                </a:solidFill>
              </a:defRPr>
            </a:pPr>
            <a:r>
              <a:t>CONCLUSION</a:t>
            </a:r>
          </a:p>
        </p:txBody>
      </p:sp>
      <p:sp>
        <p:nvSpPr>
          <p:cNvPr id="39" name="TextBox 31">
            <a:extLst>
              <a:ext uri="{FF2B5EF4-FFF2-40B4-BE49-F238E27FC236}">
                <a16:creationId xmlns:a16="http://schemas.microsoft.com/office/drawing/2014/main" id="{36183918-19DF-BB39-2FB1-4592AEA1C431}"/>
              </a:ext>
            </a:extLst>
          </p:cNvPr>
          <p:cNvSpPr txBox="1"/>
          <p:nvPr/>
        </p:nvSpPr>
        <p:spPr>
          <a:xfrm>
            <a:off x="6172352" y="1179576"/>
            <a:ext cx="138390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FF7D00"/>
                </a:solidFill>
              </a:defRPr>
            </a:pPr>
            <a:r>
              <a:t>FUTURE SCOPE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01D353-EDD3-AFEB-A74C-51FD8E44DC0B}"/>
              </a:ext>
            </a:extLst>
          </p:cNvPr>
          <p:cNvSpPr/>
          <p:nvPr/>
        </p:nvSpPr>
        <p:spPr>
          <a:xfrm>
            <a:off x="5898032" y="1179576"/>
            <a:ext cx="13716" cy="4526280"/>
          </a:xfrm>
          <a:prstGeom prst="rect">
            <a:avLst/>
          </a:prstGeom>
          <a:solidFill>
            <a:srgbClr val="2D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33">
            <a:extLst>
              <a:ext uri="{FF2B5EF4-FFF2-40B4-BE49-F238E27FC236}">
                <a16:creationId xmlns:a16="http://schemas.microsoft.com/office/drawing/2014/main" id="{0FB736C4-0BFB-28F9-7395-3E0993662D44}"/>
              </a:ext>
            </a:extLst>
          </p:cNvPr>
          <p:cNvSpPr txBox="1"/>
          <p:nvPr/>
        </p:nvSpPr>
        <p:spPr>
          <a:xfrm>
            <a:off x="228752" y="1655064"/>
            <a:ext cx="5349240" cy="2170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130">
                <a:solidFill>
                  <a:srgbClr val="EBF2FA"/>
                </a:solidFill>
              </a:defRPr>
            </a:pPr>
            <a:r>
              <a:rPr dirty="0"/>
              <a:t>• Problem addressed: Real-time detection of drone-to-drone collisions and no-fly-zone violations in 3D airspace.</a:t>
            </a:r>
          </a:p>
          <a:p>
            <a:pPr>
              <a:spcAft>
                <a:spcPts val="1000"/>
              </a:spcAft>
              <a:defRPr sz="1130">
                <a:solidFill>
                  <a:srgbClr val="EBF2FA"/>
                </a:solidFill>
              </a:defRPr>
            </a:pPr>
            <a:r>
              <a:rPr dirty="0"/>
              <a:t>• DSA used: HashMap, </a:t>
            </a:r>
            <a:r>
              <a:rPr dirty="0" err="1"/>
              <a:t>ArrayList</a:t>
            </a:r>
            <a:r>
              <a:rPr dirty="0"/>
              <a:t>, 3D KD-Tree, and 2D Quad Tree.</a:t>
            </a:r>
          </a:p>
          <a:p>
            <a:pPr>
              <a:spcAft>
                <a:spcPts val="1000"/>
              </a:spcAft>
              <a:defRPr sz="1130">
                <a:solidFill>
                  <a:srgbClr val="EBF2FA"/>
                </a:solidFill>
              </a:defRPr>
            </a:pPr>
            <a:r>
              <a:rPr dirty="0"/>
              <a:t>• Algorithm implemented: Euclidean distance, KD-Tree nearest-neighbor search, Quad Tree range query, and Sweep Line collision detection.</a:t>
            </a:r>
          </a:p>
          <a:p>
            <a:pPr>
              <a:spcAft>
                <a:spcPts val="1000"/>
              </a:spcAft>
              <a:defRPr sz="1130">
                <a:solidFill>
                  <a:srgbClr val="EBF2FA"/>
                </a:solidFill>
              </a:defRPr>
            </a:pPr>
            <a:r>
              <a:rPr dirty="0"/>
              <a:t>• Major results: Functional drone tracking, trajectory updates, collision alerts, nearest-drone search, range queries, and no-fly-zone detection.</a:t>
            </a:r>
          </a:p>
          <a:p>
            <a:pPr>
              <a:spcAft>
                <a:spcPts val="1000"/>
              </a:spcAft>
              <a:defRPr sz="1130">
                <a:solidFill>
                  <a:srgbClr val="EBF2FA"/>
                </a:solidFill>
              </a:defRPr>
            </a:pPr>
            <a:r>
              <a:rPr dirty="0"/>
              <a:t>• Overall outcome: A working DSA-based prototype for spatially aware drone collision and airspace monitoring.</a:t>
            </a:r>
          </a:p>
        </p:txBody>
      </p:sp>
      <p:sp>
        <p:nvSpPr>
          <p:cNvPr id="42" name="TextBox 34">
            <a:extLst>
              <a:ext uri="{FF2B5EF4-FFF2-40B4-BE49-F238E27FC236}">
                <a16:creationId xmlns:a16="http://schemas.microsoft.com/office/drawing/2014/main" id="{FB82B02D-44AE-EE2B-C119-0818C2DAA545}"/>
              </a:ext>
            </a:extLst>
          </p:cNvPr>
          <p:cNvSpPr txBox="1"/>
          <p:nvPr/>
        </p:nvSpPr>
        <p:spPr>
          <a:xfrm>
            <a:off x="6172352" y="1655064"/>
            <a:ext cx="54864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Performance improvements: Optimize collision checking and spatial queries for larger drone populations.</a:t>
            </a:r>
          </a:p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Scalability: Maintain spatial indexes dynamically instead of rebuilding trees for each query.</a:t>
            </a:r>
          </a:p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Memory optimization: Reduce duplicate data and improve node/storage management.</a:t>
            </a:r>
          </a:p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Additional functionality: Add trajectory prediction, adaptive safety margins, conflict resolution, and prioritized alerts.</a:t>
            </a:r>
          </a:p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Integration with other technologies: Integrate GPS/ADS-B, LiDAR/depth sensors, live telemetry, cloud services, and real-time dashboards.</a:t>
            </a:r>
          </a:p>
          <a:p>
            <a:pPr>
              <a:spcAft>
                <a:spcPts val="1000"/>
              </a:spcAft>
              <a:defRPr sz="1050">
                <a:solidFill>
                  <a:srgbClr val="EBF2FA"/>
                </a:solidFill>
              </a:defRPr>
            </a:pPr>
            <a:r>
              <a:t>• Possible alternative algorithms/data structures: Explore R-Trees, Octrees, dynamic KD-Trees, spatial hashing, and optimized sweep-line structures.</a:t>
            </a:r>
          </a:p>
        </p:txBody>
      </p:sp>
      <p:sp>
        <p:nvSpPr>
          <p:cNvPr id="43" name="TextBox 35">
            <a:extLst>
              <a:ext uri="{FF2B5EF4-FFF2-40B4-BE49-F238E27FC236}">
                <a16:creationId xmlns:a16="http://schemas.microsoft.com/office/drawing/2014/main" id="{61D0166C-6BAC-0309-342E-12B266C9A8BD}"/>
              </a:ext>
            </a:extLst>
          </p:cNvPr>
          <p:cNvSpPr txBox="1"/>
          <p:nvPr/>
        </p:nvSpPr>
        <p:spPr>
          <a:xfrm>
            <a:off x="228752" y="5888736"/>
            <a:ext cx="10972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AABED2"/>
                </a:solidFill>
              </a:defRPr>
            </a:pPr>
            <a:r>
              <a:t>OVERALL OUTCOME: DSA-based spatial indexing provides a structured approach to drone collision and airspace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41148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9CABBE"/>
                </a:solidFill>
                <a:latin typeface="Aptos"/>
              </a:rPr>
              <a:t>Technical resources and project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D4FF"/>
                </a:solidFill>
                <a:latin typeface="Cascadia Mono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BBE"/>
                </a:solidFill>
                <a:latin typeface="Cascadia Mono"/>
              </a:rPr>
              <a:t>REAL-TIME DRONE AIRSPACE MONITORING • DSA-2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D4FF"/>
                </a:solidFill>
                <a:latin typeface="Cascadia Mono"/>
              </a:rPr>
              <a:t>SKYSHIELD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1371600"/>
            <a:ext cx="544068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1481328"/>
            <a:ext cx="5111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RESEARCH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1783080"/>
            <a:ext cx="5111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[1] Bentley, J. L. (1975). “Multidimensional Binary Search Trees Used for Associative Searching.” Communications of the ACM, 18(9), 509–517. DOI: 10.1145/361002.361007.
[2] Finkel, R. A., &amp; Bentley, J. L. (1974). “Quad Trees: A Data Structure for Retrieval on Composite Keys.” Acta Informatica, 4, 1–9. DOI: 10.1007/BF00288933.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71600"/>
            <a:ext cx="530352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1481328"/>
            <a:ext cx="4974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CONFERENCE / TECHNICAL PAPERS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1783080"/>
            <a:ext cx="4974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[3] Bentley, J. L., &amp; Ottmann, T. A. (1979). “Algorithms for Reporting and Counting Geometric Intersections.” IEEE Transactions on Computers, C-28(9), 643–647.
[4] Bentley, J. L. (1980). “Multidimensional Divide-and-Conquer.” Communications of the ACM, 23(4), 214–229.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743200"/>
            <a:ext cx="544068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" y="2852928"/>
            <a:ext cx="5111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3154680"/>
            <a:ext cx="5111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[5] de Berg, M., Cheong, O., van Kreveld, M., &amp; Overmars, M. Computational Geometry: Algorithms and Applications. Springer.
[6] Cormen, T. H., Leiserson, C. E., Rivest, R. L., &amp; Stein, C. E. Introduction to Algorithms. MIT Press.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743200"/>
            <a:ext cx="530352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852928"/>
            <a:ext cx="4974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OFFICIAL 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154680"/>
            <a:ext cx="4974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[7] Oracle. Java SE Documentation — Java Collections Framework, HashMap and ArrayList APIs.
[8] OpenJDK / Oracle Java Platform documentation for Java language and runtime APIs.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114800"/>
            <a:ext cx="544068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" y="4224528"/>
            <a:ext cx="5111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DATASET / INPUT SOURCES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" y="4526280"/>
            <a:ext cx="5111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[9] Project-generated synthetic drone telemetry: drone ID, 3D position, velocity and collision radius used for functional testing.
[10] Project-defined no-fly-zone data: zone center and radius used to validate restricted-airspace checks.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114800"/>
            <a:ext cx="5303520" cy="1234440"/>
          </a:xfrm>
          <a:prstGeom prst="rect">
            <a:avLst/>
          </a:prstGeom>
          <a:solidFill>
            <a:srgbClr val="0F1724"/>
          </a:solidFill>
          <a:ln>
            <a:solidFill>
              <a:srgbClr val="2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4224528"/>
            <a:ext cx="4974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scadia Mono"/>
              </a:rPr>
              <a:t>TECHNICAL RESOURCES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4526280"/>
            <a:ext cx="4974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F0F6FC"/>
                </a:solidFill>
                <a:latin typeface="Aptos"/>
              </a:rPr>
              <a:t>[11] Project repository: github.com/Rudheer09/DSA-2-Capstone
[12] Project source implementation: Drone, NoFlyZone, KDTree, QuadTree, SweepLineAlgorithm and DroneSystem.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3022</Words>
  <Application>Microsoft Office PowerPoint</Application>
  <PresentationFormat>Widescreen</PresentationFormat>
  <Paragraphs>405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Rudheer</dc:creator>
  <cp:keywords/>
  <dc:description>generated using python-pptx</dc:description>
  <cp:lastModifiedBy>KUDUPUDI RUDHEER-[CH.SC.U4AIE25074]</cp:lastModifiedBy>
  <cp:revision>6</cp:revision>
  <dcterms:created xsi:type="dcterms:W3CDTF">2013-01-27T09:14:16Z</dcterms:created>
  <dcterms:modified xsi:type="dcterms:W3CDTF">2026-09-10T17:41:31Z</dcterms:modified>
  <cp:category/>
</cp:coreProperties>
</file>